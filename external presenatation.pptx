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0" r:id="rId5"/>
    <p:sldId id="261" r:id="rId6"/>
    <p:sldId id="262" r:id="rId7"/>
    <p:sldId id="263" r:id="rId8"/>
    <p:sldId id="264" r:id="rId9"/>
    <p:sldId id="265" r:id="rId10"/>
    <p:sldId id="266" r:id="rId11"/>
    <p:sldId id="267" r:id="rId12"/>
    <p:sldId id="270" r:id="rId13"/>
    <p:sldId id="273" r:id="rId14"/>
    <p:sldId id="271" r:id="rId15"/>
    <p:sldId id="272" r:id="rId16"/>
    <p:sldId id="274" r:id="rId17"/>
    <p:sldId id="275" r:id="rId18"/>
    <p:sldId id="277"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2" d="100"/>
          <a:sy n="82" d="100"/>
        </p:scale>
        <p:origin x="-720" y="34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8T14:45:30.318"/>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8T14:45:34.164"/>
    </inkml:context>
    <inkml:brush xml:id="br0">
      <inkml:brushProperty name="width" value="0.35" units="cm"/>
      <inkml:brushProperty name="height" value="0.35" units="cm"/>
      <inkml:brushProperty name="color" value="#FFFFFF"/>
    </inkml:brush>
  </inkml:definitions>
  <inkml:trace contextRef="#ctx0" brushRef="#br0">895 316 24575,'24'-1'0,"-7"1"0,-37 6 0,-25 3 0,-1-2 0,-55 0 0,-95-6 0,94-2 0,156-21 0,-54 22 0,-1 0 0,1 0 0,0 0 0,0 0 0,0 0 0,0 0 0,0 0 0,0 0 0,0 0 0,0 0 0,0 0 0,0 0 0,0-1 0,0 1 0,0 0 0,0 0 0,0 0 0,0 0 0,-1 0 0,1 0 0,0 0 0,0 0 0,0 0 0,0 0 0,0 0 0,0-1 0,0 1 0,0 0 0,0 0 0,0 0 0,0 0 0,0 0 0,0 0 0,0 0 0,0 0 0,1 0 0,-1 0 0,0 0 0,0-1 0,0 1 0,0 0 0,0 0 0,0 0 0,0 0 0,0 0 0,0 0 0,0 0 0,-17-2 0,-21 0 0,-158 3 0,196-1 0,0 0 0,0 0 0,1 0 0,-1 0 0,0 0 0,0 0 0,0 0 0,0 0 0,0 0 0,0 0 0,0 0 0,0 0 0,0 0 0,0-1 0,0 1 0,0 0 0,0 0 0,1 0 0,-1 0 0,0 0 0,0 0 0,0 0 0,0 0 0,0 0 0,0 0 0,0 0 0,0 0 0,0 0 0,0-1 0,0 1 0,0 0 0,0 0 0,0 0 0,0 0 0,0 0 0,0 0 0,0 0 0,0 0 0,0 0 0,0 0 0,0 0 0,0-1 0,0 1 0,0 0 0,0 0 0,0 0 0,0 0 0,0 0 0,0 0 0,0 0 0,-1 0 0,1 0 0,0 0 0,0 0 0,0 0 0,0 0 0,0 0 0,0-1 0,0 1 0,0 0 0,0 0 0,0 0 0,0 0 0,0 0 0,-1 0 0,1 0 0,11-8 0,16-9 0,-24 16 0,7-3 0,0-1 0,0-1 0,0 0 0,12-10 0,-21 15 0,0 0 0,0 1 0,0-1 0,0 0 0,0 0 0,0 0 0,0 0 0,0 0 0,0 0 0,0-1 0,0 1 0,-1 0 0,1 0 0,-1-1 0,1 1 0,-1 0 0,1-1 0,-1 1 0,0 0 0,1-1 0,-1 1 0,0-1 0,0 1 0,0 0 0,0-1 0,0 1 0,-1-1 0,1 1 0,0 0 0,-1-1 0,1 1 0,-1 0 0,1-1 0,-1 1 0,0 0 0,1 0 0,-1 0 0,0-1 0,0 1 0,0 0 0,0 0 0,0 0 0,0 0 0,0 0 0,0 1 0,0-1 0,-2-1 0,-1 0 0,0-1 0,-1 1 0,1 0 0,0 1 0,-1-1 0,0 1 0,1 0 0,-1 0 0,-8-1 0,8 2 0,-1-1 0,1 0 0,0 0 0,-1-1 0,-6-2 0,12 4 0,-1 0 0,1 0 0,0 0 0,0-1 0,0 1 0,-1 0 0,1 0 0,0 0 0,0 0 0,0 0 0,-1 0 0,1-1 0,0 1 0,0 0 0,0 0 0,0 0 0,0 0 0,0-1 0,-1 1 0,1 0 0,0 0 0,0 0 0,0-1 0,0 1 0,0 0 0,0 0 0,0 0 0,0-1 0,0 1 0,0 0 0,0 0 0,0-1 0,0 1 0,0 0 0,0 0 0,0 0 0,0-1 0,0 1 0,1 0 0,7-8 0,14-4 0,6 1 0,1 1 0,33-7 0,-32 10 0,55-22 0,-130 23 0,42 6 0,1 0 0,-1-1 0,1 1 0,0 0 0,-1-1 0,1 1 0,-1-1 0,1 0 0,0 0 0,-5-2 0,7-5 0,13-4 0,-13 12 0,1-1 0,-1 1 0,0 0 0,1 0 0,-1-1 0,1 1 0,-1 0 0,0-1 0,1 1 0,-1 0 0,0-1 0,1 1 0,-1-1 0,0 1 0,1 0 0,-1-1 0,0 1 0,0-1 0,0 1 0,1-1 0,-1 1 0,0-1 0,0 1 0,0-1 0,0 1 0,0-1 0,0 1 0,0-1 0,0 1 0,0-2 0,-14-5 0,-26 2 0,39 5 0,-277-1 0,170 2 0,328-1 0,-228 0 44,-4 1-396,1-2-1,-1 1 1,-18-5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8T14:45:49.303"/>
    </inkml:context>
    <inkml:brush xml:id="br0">
      <inkml:brushProperty name="width" value="0.35" units="cm"/>
      <inkml:brushProperty name="height" value="0.35" units="cm"/>
      <inkml:brushProperty name="color" value="#FFFFFF"/>
    </inkml:brush>
  </inkml:definitions>
  <inkml:trace contextRef="#ctx0" brushRef="#br0">1 55 24575,'310'0'0,"-309"1"0,0-1 0,0 0 0,1 0 0,-1 0 0,0 0 0,0 0 0,0 0 0,0 0 0,0 0 0,0 0 0,0 0 0,0 0 0,0-1 0,0 1 0,0-1 0,0 1 0,0 0 0,0-1 0,0 1 0,0-1 0,-1 0 0,1 1 0,0-1 0,0 0 0,0 0 0,0 0 0,-2 0 0,1 0 0,-1 0 0,0 0 0,0 0 0,0 0 0,1 0 0,-1 1 0,0-1 0,0 0 0,0 0 0,0 1 0,0-1 0,0 1 0,-1-1 0,1 1 0,0 0 0,0-1 0,0 1 0,0 0 0,-1 0 0,1-1 0,-2 1 0,-33-4 0,0 1 0,-73 3 0,73 1 0,108-24 0,-45 20-1365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8T14:46:02.552"/>
    </inkml:context>
    <inkml:brush xml:id="br0">
      <inkml:brushProperty name="width" value="0.35" units="cm"/>
      <inkml:brushProperty name="height" value="0.35" units="cm"/>
      <inkml:brushProperty name="color" value="#FFFFFF"/>
    </inkml:brush>
  </inkml:definitions>
  <inkml:trace contextRef="#ctx0" brushRef="#br0">0 0 24575,'526'0'0,"-941"0"-1365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8T14:46:17.813"/>
    </inkml:context>
    <inkml:brush xml:id="br0">
      <inkml:brushProperty name="width" value="0.35" units="cm"/>
      <inkml:brushProperty name="height" value="0.35" units="cm"/>
      <inkml:brushProperty name="color" value="#FFFFFF"/>
    </inkml:brush>
  </inkml:definitions>
  <inkml:trace contextRef="#ctx0" brushRef="#br0">133 69 24575,'353'0'0,"-839"0"0,521-2 0,0-2 0,0-1 0,44-13 0,-42 9 0,0 1 0,68-4 0,-87 11-455,1-1 0,27-6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76D8FE-4B2E-4BDC-8C16-5B0A50BA1B4D}" type="datetimeFigureOut">
              <a:rPr lang="en-IN" smtClean="0"/>
              <a:t>06-02-2025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4E39F-8C25-4665-93DF-57B133616DC6}" type="slidenum">
              <a:rPr lang="en-IN" smtClean="0"/>
              <a:t>‹#›</a:t>
            </a:fld>
            <a:endParaRPr lang="en-IN"/>
          </a:p>
        </p:txBody>
      </p:sp>
    </p:spTree>
    <p:extLst>
      <p:ext uri="{BB962C8B-B14F-4D97-AF65-F5344CB8AC3E}">
        <p14:creationId xmlns:p14="http://schemas.microsoft.com/office/powerpoint/2010/main" val="378494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D4E39F-8C25-4665-93DF-57B133616DC6}" type="slidenum">
              <a:rPr lang="en-IN" smtClean="0"/>
              <a:t>9</a:t>
            </a:fld>
            <a:endParaRPr lang="en-IN"/>
          </a:p>
        </p:txBody>
      </p:sp>
    </p:spTree>
    <p:extLst>
      <p:ext uri="{BB962C8B-B14F-4D97-AF65-F5344CB8AC3E}">
        <p14:creationId xmlns:p14="http://schemas.microsoft.com/office/powerpoint/2010/main" val="4052659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1A23CA-DD97-72D4-E167-C523F2C332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40C3E66-E085-3821-ABDE-9A0F74D65E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7B30233-A6FD-3C7F-A8A7-1D6AEA76977E}"/>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AE30CD64-EBA6-1DEF-7A5C-4FA9008B9F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9889893-60B4-DB2A-57ED-91AED08D3628}"/>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159998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8871B1-C5F4-7DE7-7780-A846AB8DD9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EAE3489-A1FE-C601-1384-AE483F45F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C572A38-7F59-05C1-D17D-218C230CCB32}"/>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A6F7B669-5F43-BFD4-DECE-CD94A01F31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0116823-320E-7634-CBEF-4CC4704BB1B7}"/>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4130440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C8FFED-3BB8-3A5F-F329-E644DA984A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FB3A2F7-8628-3D1D-D3BD-1E4D59CF9A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6A0378A-836F-CF70-02EC-019A7366615F}"/>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DEB5156C-027F-A999-E6D7-22AAD31F7F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F5A3D34-06BB-7583-350B-F9992F01ACC9}"/>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2967451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99E9A5-31B5-01C7-CE85-2C7F589018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469901E-38FF-1D8A-E3C7-D863E05303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A2FC6B2-AB1F-A29A-6916-EEE95854C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98AD7AE1-2290-2A12-334F-33B3AB469E16}"/>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6" name="Footer Placeholder 5">
            <a:extLst>
              <a:ext uri="{FF2B5EF4-FFF2-40B4-BE49-F238E27FC236}">
                <a16:creationId xmlns:a16="http://schemas.microsoft.com/office/drawing/2014/main" xmlns="" id="{939E7661-2B62-D2C7-BFA4-5DE4066405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2FD95DE-6ACC-2EFA-A791-BA2C15F4FB5B}"/>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1178852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D39A9C-B6A2-8722-369F-455B77236E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EB23101-E8F3-7B18-5475-4F88E4E39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3FCA275-B2E4-FAD9-FF83-4FF4912CF2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BCC1FDBB-231B-B6C4-ECDF-27EE4A93A7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498AEC3-E4CA-EC73-80C0-30A2D1E0C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32C5CED-D528-9EA8-B17B-1B1960EF27EE}"/>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8" name="Footer Placeholder 7">
            <a:extLst>
              <a:ext uri="{FF2B5EF4-FFF2-40B4-BE49-F238E27FC236}">
                <a16:creationId xmlns:a16="http://schemas.microsoft.com/office/drawing/2014/main" xmlns="" id="{381002DD-F1AD-0B18-9C96-3CEDBD654F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E84742EC-1307-3560-51E3-C899E07A4DB9}"/>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416305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44DA16-37BD-7F1A-A2CA-4C0305DA15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A8DB5FC-C49B-7927-93C1-02C0C6525EB0}"/>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4" name="Footer Placeholder 3">
            <a:extLst>
              <a:ext uri="{FF2B5EF4-FFF2-40B4-BE49-F238E27FC236}">
                <a16:creationId xmlns:a16="http://schemas.microsoft.com/office/drawing/2014/main" xmlns="" id="{2D7B7F11-11B0-3CD4-1370-93C4033A61C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1FB377B4-71E1-B380-2F9D-8E4BB9EE196A}"/>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383708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03D8273-FFE4-BB89-5BBA-5CF6ECEE3BBF}"/>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3" name="Footer Placeholder 2">
            <a:extLst>
              <a:ext uri="{FF2B5EF4-FFF2-40B4-BE49-F238E27FC236}">
                <a16:creationId xmlns:a16="http://schemas.microsoft.com/office/drawing/2014/main" xmlns="" id="{60D72300-0F74-D26F-D6CD-935066532F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C8C9C38D-4BC0-3F3E-8806-36902DDFF5DF}"/>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4109463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3E3B7A-831F-EEF0-2733-C63B123DC0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09B76D4-4D27-55B4-054C-5F0C76B34D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E38B493A-B9C5-00DD-2DC4-FF26B8A1E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F9F311C-A291-4D07-4D5C-EA648ED9431E}"/>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6" name="Footer Placeholder 5">
            <a:extLst>
              <a:ext uri="{FF2B5EF4-FFF2-40B4-BE49-F238E27FC236}">
                <a16:creationId xmlns:a16="http://schemas.microsoft.com/office/drawing/2014/main" xmlns="" id="{AC87CFEB-E700-E983-F938-6AB7F447C0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1E7BB43-4248-F633-1421-FCFFBDCC6708}"/>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3331611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BA161D-6B7E-B377-8E92-C90981F8A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9B7DEAF-5D9E-806E-BB07-A54FA1F727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1DB6EB5-5563-6850-70C0-86379A427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727E305-BB02-BEA8-9DCE-15BA8899EF21}"/>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6" name="Footer Placeholder 5">
            <a:extLst>
              <a:ext uri="{FF2B5EF4-FFF2-40B4-BE49-F238E27FC236}">
                <a16:creationId xmlns:a16="http://schemas.microsoft.com/office/drawing/2014/main" xmlns="" id="{E18485ED-3E49-F90C-66F6-BE093FD3B4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5F0CD60-E081-F2C4-59A4-44968C8E16F0}"/>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2516141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AFF389-8CB1-4320-A0EA-CF37621F80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3FB4003-73B7-323E-FC80-15E1822877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FB3CD4A-B047-7F55-A300-5EFAE8D8AACD}"/>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7ED5BF04-5C31-D884-2BFA-48ECF15777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2E36F57-A420-F557-4468-922895A612D3}"/>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3475248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C4AF9C8-05EE-D0DB-D46D-386D7683B5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2D7997A-6948-F16C-B442-BDCEE1DA24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FE6A52F-5DAF-8C93-3DFA-BD1F246CE9B0}"/>
              </a:ext>
            </a:extLst>
          </p:cNvPr>
          <p:cNvSpPr>
            <a:spLocks noGrp="1"/>
          </p:cNvSpPr>
          <p:nvPr>
            <p:ph type="dt" sz="half" idx="10"/>
          </p:nvPr>
        </p:nvSpPr>
        <p:spPr/>
        <p:txBody>
          <a:body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A1128A56-5822-45F4-C725-2F3F3DEC2B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38FD95D-7164-36ED-1676-1A97B971FFB0}"/>
              </a:ext>
            </a:extLst>
          </p:cNvPr>
          <p:cNvSpPr>
            <a:spLocks noGrp="1"/>
          </p:cNvSpPr>
          <p:nvPr>
            <p:ph type="sldNum" sz="quarter" idx="12"/>
          </p:nvPr>
        </p:nvSpPr>
        <p:spPr/>
        <p:txBody>
          <a:bodyPr/>
          <a:lstStyle/>
          <a:p>
            <a:fld id="{1BD57DEA-28D0-4A73-A75C-81CF097D5F26}" type="slidenum">
              <a:rPr lang="en-IN" smtClean="0"/>
              <a:t>‹#›</a:t>
            </a:fld>
            <a:endParaRPr lang="en-IN"/>
          </a:p>
        </p:txBody>
      </p:sp>
    </p:spTree>
    <p:extLst>
      <p:ext uri="{BB962C8B-B14F-4D97-AF65-F5344CB8AC3E}">
        <p14:creationId xmlns:p14="http://schemas.microsoft.com/office/powerpoint/2010/main" val="3495516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1617B9D-8B5D-AC78-9156-ED1467F2C6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493FB59-4101-0480-0D23-86F94EF9E2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F5FAD74-7A15-3A7A-684B-6B7441669C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594722-0E96-4D5C-8777-07DEE02EB861}" type="datetimeFigureOut">
              <a:rPr lang="en-IN" smtClean="0"/>
              <a:t>06-02-2025</a:t>
            </a:fld>
            <a:endParaRPr lang="en-IN"/>
          </a:p>
        </p:txBody>
      </p:sp>
      <p:sp>
        <p:nvSpPr>
          <p:cNvPr id="5" name="Footer Placeholder 4">
            <a:extLst>
              <a:ext uri="{FF2B5EF4-FFF2-40B4-BE49-F238E27FC236}">
                <a16:creationId xmlns:a16="http://schemas.microsoft.com/office/drawing/2014/main" xmlns="" id="{63E8E18E-50AF-1DE4-881E-DB0FE9AFC9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E35FECC6-FB49-98AF-E767-A0A999B29C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57DEA-28D0-4A73-A75C-81CF097D5F26}" type="slidenum">
              <a:rPr lang="en-IN" smtClean="0"/>
              <a:t>‹#›</a:t>
            </a:fld>
            <a:endParaRPr lang="en-IN"/>
          </a:p>
        </p:txBody>
      </p:sp>
    </p:spTree>
    <p:extLst>
      <p:ext uri="{BB962C8B-B14F-4D97-AF65-F5344CB8AC3E}">
        <p14:creationId xmlns:p14="http://schemas.microsoft.com/office/powerpoint/2010/main" val="919926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EF5587-F559-460D-1F29-553B63725ACC}"/>
              </a:ext>
            </a:extLst>
          </p:cNvPr>
          <p:cNvSpPr>
            <a:spLocks noGrp="1"/>
          </p:cNvSpPr>
          <p:nvPr>
            <p:ph type="ctrTitle"/>
          </p:nvPr>
        </p:nvSpPr>
        <p:spPr>
          <a:xfrm>
            <a:off x="1524000" y="825909"/>
            <a:ext cx="9144000" cy="1632156"/>
          </a:xfrm>
        </p:spPr>
        <p:txBody>
          <a:bodyPr>
            <a:normAutofit fontScale="90000"/>
          </a:bodyPr>
          <a:lstStyle/>
          <a:p>
            <a:r>
              <a:rPr lang="en-IN" sz="3300" dirty="0">
                <a:solidFill>
                  <a:schemeClr val="tx1"/>
                </a:solidFill>
                <a:latin typeface="Algerian" panose="04020705040A02060702" pitchFamily="82" charset="0"/>
              </a:rPr>
              <a:t/>
            </a:r>
            <a:br>
              <a:rPr lang="en-IN" sz="3300" dirty="0">
                <a:solidFill>
                  <a:schemeClr val="tx1"/>
                </a:solidFill>
                <a:latin typeface="Algerian" panose="04020705040A02060702" pitchFamily="82" charset="0"/>
              </a:rPr>
            </a:br>
            <a:r>
              <a:rPr lang="en-IN" sz="3300" dirty="0">
                <a:solidFill>
                  <a:schemeClr val="tx1"/>
                </a:solidFill>
                <a:latin typeface="Algerian" panose="04020705040A02060702" pitchFamily="82" charset="0"/>
              </a:rPr>
              <a:t/>
            </a:r>
            <a:br>
              <a:rPr lang="en-IN" sz="3300" dirty="0">
                <a:solidFill>
                  <a:schemeClr val="tx1"/>
                </a:solidFill>
                <a:latin typeface="Algerian" panose="04020705040A02060702" pitchFamily="82" charset="0"/>
              </a:rPr>
            </a:br>
            <a:r>
              <a:rPr lang="en-IN" sz="3800" dirty="0">
                <a:solidFill>
                  <a:schemeClr val="tx1"/>
                </a:solidFill>
                <a:latin typeface="Algerian" panose="04020705040A02060702" pitchFamily="82" charset="0"/>
              </a:rPr>
              <a:t>Shree devi institute of technology</a:t>
            </a:r>
            <a:r>
              <a:rPr lang="en-IN" sz="9600" dirty="0">
                <a:latin typeface="Algerian" panose="04020705040A02060702" pitchFamily="82" charset="0"/>
              </a:rPr>
              <a:t/>
            </a:r>
            <a:br>
              <a:rPr lang="en-IN" sz="9600" dirty="0">
                <a:latin typeface="Algerian" panose="04020705040A02060702" pitchFamily="82" charset="0"/>
              </a:rPr>
            </a:br>
            <a:r>
              <a:rPr lang="en-IN" sz="2200" dirty="0">
                <a:solidFill>
                  <a:schemeClr val="tx1"/>
                </a:solidFill>
                <a:latin typeface="Times New Roman" panose="02020603050405020304" pitchFamily="18" charset="0"/>
                <a:cs typeface="Times New Roman" panose="02020603050405020304" pitchFamily="18" charset="0"/>
              </a:rPr>
              <a:t>DEPARTMENT OF ELECTRONICS AND COMMUNICATION ENGINEERING</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D644952A-D4B1-97C4-0737-3F8B6E52B8F1}"/>
              </a:ext>
            </a:extLst>
          </p:cNvPr>
          <p:cNvSpPr>
            <a:spLocks noGrp="1"/>
          </p:cNvSpPr>
          <p:nvPr>
            <p:ph type="subTitle" idx="1"/>
          </p:nvPr>
        </p:nvSpPr>
        <p:spPr>
          <a:xfrm>
            <a:off x="804902" y="2261421"/>
            <a:ext cx="10582196" cy="4119716"/>
          </a:xfrm>
        </p:spPr>
        <p:txBody>
          <a:bodyPr>
            <a:normAutofit fontScale="92500" lnSpcReduction="20000"/>
          </a:bodyPr>
          <a:lstStyle/>
          <a:p>
            <a:r>
              <a:rPr lang="en-IN" sz="2400" b="1" u="sng" dirty="0">
                <a:latin typeface="Times New Roman" panose="02020603050405020304" pitchFamily="18" charset="0"/>
                <a:cs typeface="Times New Roman" panose="02020603050405020304" pitchFamily="18" charset="0"/>
              </a:rPr>
              <a:t>“MULTIMODAL MEDICAL IMAGING FOR THE DETECTION </a:t>
            </a:r>
          </a:p>
          <a:p>
            <a:r>
              <a:rPr lang="en-IN" sz="2400" b="1" u="sng" dirty="0">
                <a:latin typeface="Times New Roman" panose="02020603050405020304" pitchFamily="18" charset="0"/>
                <a:cs typeface="Times New Roman" panose="02020603050405020304" pitchFamily="18" charset="0"/>
              </a:rPr>
              <a:t>AND ANALYSIS OF BRAIN TUMORS”</a:t>
            </a:r>
          </a:p>
          <a:p>
            <a:endParaRPr lang="en-IN" sz="2400" b="1" u="sng" dirty="0">
              <a:latin typeface="Times New Roman" panose="02020603050405020304" pitchFamily="18" charset="0"/>
              <a:cs typeface="Times New Roman" panose="02020603050405020304" pitchFamily="18" charset="0"/>
            </a:endParaRPr>
          </a:p>
          <a:p>
            <a:r>
              <a:rPr lang="en-IN" sz="2000"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Under the</a:t>
            </a:r>
            <a:r>
              <a:rPr lang="en-IN" sz="2000" u="sng"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Guidance</a:t>
            </a:r>
            <a:r>
              <a:rPr lang="en-IN" sz="2000" u="sng" spc="-1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of</a:t>
            </a:r>
            <a:endParaRPr lang="en-IN" sz="2000" u="sng"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1000"/>
              </a:spcAft>
            </a:pPr>
            <a:r>
              <a:rPr lang="en-IN" sz="19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Mrs. </a:t>
            </a:r>
            <a:r>
              <a:rPr lang="en-IN" sz="19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Nischitha</a:t>
            </a:r>
            <a:r>
              <a:rPr lang="en-IN" sz="19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20000"/>
              </a:lnSpc>
              <a:spcAft>
                <a:spcPts val="1000"/>
              </a:spcAft>
            </a:pPr>
            <a:r>
              <a:rPr lang="en-IN" sz="1900" dirty="0" smtClean="0">
                <a:solidFill>
                  <a:schemeClr val="tx1"/>
                </a:solidFill>
                <a:effectLst/>
                <a:latin typeface="Times New Roman" panose="02020603050405020304" pitchFamily="18" charset="0"/>
                <a:ea typeface="Calibri" panose="020F0502020204030204" pitchFamily="34" charset="0"/>
              </a:rPr>
              <a:t>Assistant </a:t>
            </a:r>
            <a:r>
              <a:rPr lang="en-IN" sz="1900" spc="-5" dirty="0" smtClean="0">
                <a:solidFill>
                  <a:schemeClr val="tx1"/>
                </a:solidFill>
                <a:effectLst/>
                <a:latin typeface="Times New Roman" panose="02020603050405020304" pitchFamily="18" charset="0"/>
                <a:ea typeface="Calibri" panose="020F0502020204030204" pitchFamily="34" charset="0"/>
              </a:rPr>
              <a:t> </a:t>
            </a:r>
            <a:r>
              <a:rPr lang="en-IN" sz="1900" dirty="0" smtClean="0">
                <a:solidFill>
                  <a:schemeClr val="tx1"/>
                </a:solidFill>
                <a:effectLst/>
                <a:latin typeface="Times New Roman" panose="02020603050405020304" pitchFamily="18" charset="0"/>
                <a:ea typeface="Calibri" panose="020F0502020204030204" pitchFamily="34" charset="0"/>
              </a:rPr>
              <a:t>Professor,                                    </a:t>
            </a:r>
            <a:endParaRPr lang="en-IN" sz="1900" dirty="0">
              <a:solidFill>
                <a:schemeClr val="tx1"/>
              </a:solidFill>
              <a:effectLst/>
              <a:latin typeface="Times New Roman" panose="02020603050405020304" pitchFamily="18" charset="0"/>
              <a:ea typeface="Calibri" panose="020F0502020204030204" pitchFamily="34" charset="0"/>
            </a:endParaRPr>
          </a:p>
          <a:p>
            <a:pPr>
              <a:lnSpc>
                <a:spcPct val="120000"/>
              </a:lnSpc>
              <a:spcAft>
                <a:spcPts val="1000"/>
              </a:spcAft>
            </a:pPr>
            <a:r>
              <a:rPr lang="en-IN" sz="1900" spc="-5" dirty="0">
                <a:latin typeface="Times New Roman" panose="02020603050405020304" pitchFamily="18" charset="0"/>
                <a:ea typeface="Calibri" panose="020F0502020204030204" pitchFamily="34" charset="0"/>
              </a:rPr>
              <a:t>D</a:t>
            </a:r>
            <a:r>
              <a:rPr lang="en-IN" sz="1900" spc="-5" dirty="0">
                <a:solidFill>
                  <a:schemeClr val="tx1"/>
                </a:solidFill>
                <a:effectLst/>
                <a:latin typeface="Times New Roman" panose="02020603050405020304" pitchFamily="18" charset="0"/>
                <a:ea typeface="Calibri" panose="020F0502020204030204" pitchFamily="34" charset="0"/>
              </a:rPr>
              <a:t>ept. </a:t>
            </a:r>
            <a:r>
              <a:rPr lang="en-IN" sz="1900" spc="-5" dirty="0">
                <a:solidFill>
                  <a:schemeClr val="tx1"/>
                </a:solidFill>
                <a:latin typeface="Times New Roman" panose="02020603050405020304" pitchFamily="18" charset="0"/>
                <a:ea typeface="Calibri" panose="020F0502020204030204" pitchFamily="34" charset="0"/>
              </a:rPr>
              <a:t>of  E</a:t>
            </a:r>
            <a:r>
              <a:rPr lang="en-IN" sz="1900" dirty="0">
                <a:solidFill>
                  <a:schemeClr val="tx1"/>
                </a:solidFill>
                <a:effectLst/>
                <a:latin typeface="Times New Roman" panose="02020603050405020304" pitchFamily="18" charset="0"/>
                <a:ea typeface="Calibri" panose="020F0502020204030204" pitchFamily="34" charset="0"/>
              </a:rPr>
              <a:t>CE</a:t>
            </a:r>
            <a:r>
              <a:rPr lang="en-IN" sz="2000" dirty="0">
                <a:solidFill>
                  <a:schemeClr val="tx1"/>
                </a:solidFill>
                <a:effectLst/>
                <a:latin typeface="Times New Roman" panose="02020603050405020304" pitchFamily="18" charset="0"/>
                <a:ea typeface="Calibri" panose="020F0502020204030204" pitchFamily="34" charset="0"/>
              </a:rPr>
              <a:t> </a:t>
            </a:r>
            <a:endPar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r>
              <a:rPr lang="en-IN" sz="2100" dirty="0">
                <a:solidFill>
                  <a:schemeClr val="tx1"/>
                </a:solidFill>
                <a:latin typeface="Times New Roman" panose="02020603050405020304" pitchFamily="18" charset="0"/>
                <a:cs typeface="Times New Roman" panose="02020603050405020304" pitchFamily="18" charset="0"/>
              </a:rPr>
              <a:t>                                                                                                      </a:t>
            </a:r>
            <a:r>
              <a:rPr lang="en-IN" sz="1700" dirty="0">
                <a:solidFill>
                  <a:schemeClr val="tx1"/>
                </a:solidFill>
                <a:latin typeface="Times New Roman" panose="02020603050405020304" pitchFamily="18" charset="0"/>
                <a:cs typeface="Times New Roman" panose="02020603050405020304" pitchFamily="18" charset="0"/>
              </a:rPr>
              <a:t>Amrutha K M  - 4SH21EC001                         </a:t>
            </a:r>
          </a:p>
          <a:p>
            <a:r>
              <a:rPr lang="en-IN" sz="1700" dirty="0">
                <a:solidFill>
                  <a:schemeClr val="tx1"/>
                </a:solidFill>
                <a:latin typeface="Times New Roman" panose="02020603050405020304" pitchFamily="18" charset="0"/>
                <a:cs typeface="Times New Roman" panose="02020603050405020304" pitchFamily="18" charset="0"/>
              </a:rPr>
              <a:t>                                                                                                                       Gangotri H S -  4SH21EC003</a:t>
            </a:r>
          </a:p>
          <a:p>
            <a:r>
              <a:rPr lang="en-IN" sz="1700">
                <a:solidFill>
                  <a:schemeClr val="tx1"/>
                </a:solidFill>
                <a:latin typeface="Times New Roman" panose="02020603050405020304" pitchFamily="18" charset="0"/>
                <a:cs typeface="Times New Roman" panose="02020603050405020304" pitchFamily="18" charset="0"/>
              </a:rPr>
              <a:t>                                                                                                                                 </a:t>
            </a:r>
            <a:r>
              <a:rPr lang="en-IN" sz="1700" smtClean="0">
                <a:solidFill>
                  <a:schemeClr val="tx1"/>
                </a:solidFill>
                <a:latin typeface="Times New Roman" panose="02020603050405020304" pitchFamily="18" charset="0"/>
                <a:cs typeface="Times New Roman" panose="02020603050405020304" pitchFamily="18" charset="0"/>
              </a:rPr>
              <a:t>   </a:t>
            </a:r>
            <a:r>
              <a:rPr lang="en-IN" sz="1700" dirty="0">
                <a:solidFill>
                  <a:schemeClr val="tx1"/>
                </a:solidFill>
                <a:latin typeface="Times New Roman" panose="02020603050405020304" pitchFamily="18" charset="0"/>
                <a:cs typeface="Times New Roman" panose="02020603050405020304" pitchFamily="18" charset="0"/>
              </a:rPr>
              <a:t>Sucheta Krishna Naik - 4SH21EC011</a:t>
            </a:r>
          </a:p>
          <a:p>
            <a:endParaRPr lang="en-IN" dirty="0"/>
          </a:p>
        </p:txBody>
      </p:sp>
      <p:pic>
        <p:nvPicPr>
          <p:cNvPr id="4" name="image3.jpeg">
            <a:extLst>
              <a:ext uri="{FF2B5EF4-FFF2-40B4-BE49-F238E27FC236}">
                <a16:creationId xmlns:a16="http://schemas.microsoft.com/office/drawing/2014/main" xmlns="" id="{C285B79F-80CA-DD83-C70E-DFF41C40E69B}"/>
              </a:ext>
            </a:extLst>
          </p:cNvPr>
          <p:cNvPicPr/>
          <p:nvPr/>
        </p:nvPicPr>
        <p:blipFill>
          <a:blip r:embed="rId2" cstate="print"/>
          <a:stretch>
            <a:fillRect/>
          </a:stretch>
        </p:blipFill>
        <p:spPr>
          <a:xfrm>
            <a:off x="527229" y="195671"/>
            <a:ext cx="1274445" cy="1260475"/>
          </a:xfrm>
          <a:prstGeom prst="rect">
            <a:avLst/>
          </a:prstGeom>
        </p:spPr>
      </p:pic>
      <p:pic>
        <p:nvPicPr>
          <p:cNvPr id="5" name="Picture 4">
            <a:extLst>
              <a:ext uri="{FF2B5EF4-FFF2-40B4-BE49-F238E27FC236}">
                <a16:creationId xmlns:a16="http://schemas.microsoft.com/office/drawing/2014/main" xmlns="" id="{F6A80C52-9854-9FC7-5938-1727D9B665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06993" y="335625"/>
            <a:ext cx="1499870" cy="1073785"/>
          </a:xfrm>
          <a:prstGeom prst="rect">
            <a:avLst/>
          </a:prstGeom>
          <a:noFill/>
        </p:spPr>
      </p:pic>
    </p:spTree>
    <p:extLst>
      <p:ext uri="{BB962C8B-B14F-4D97-AF65-F5344CB8AC3E}">
        <p14:creationId xmlns:p14="http://schemas.microsoft.com/office/powerpoint/2010/main" val="1128894643"/>
      </p:ext>
    </p:ext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5309F2-EE92-8B21-244F-46669A67DDBF}"/>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xmlns="" id="{B79E6739-DF7E-5A25-2DB5-23FF4577A89F}"/>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Literature Review</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Performance Metrics</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Implementation Results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Statistical Analysis </a:t>
            </a: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a:t>
            </a:r>
            <a:r>
              <a:rPr lang="en-US" sz="2800" dirty="0">
                <a:latin typeface="Times New Roman" panose="02020603050405020304" pitchFamily="18" charset="0"/>
                <a:cs typeface="Times New Roman" panose="02020603050405020304" pitchFamily="18" charset="0"/>
              </a:rPr>
              <a:t>pplication</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Future Scope</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Reference</a:t>
            </a:r>
          </a:p>
          <a:p>
            <a:endParaRPr lang="en-IN" dirty="0"/>
          </a:p>
        </p:txBody>
      </p:sp>
    </p:spTree>
    <p:extLst>
      <p:ext uri="{BB962C8B-B14F-4D97-AF65-F5344CB8AC3E}">
        <p14:creationId xmlns:p14="http://schemas.microsoft.com/office/powerpoint/2010/main" val="3549115085"/>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A29B02-C7B8-3742-D366-010D2E3E8AA1}"/>
              </a:ext>
            </a:extLst>
          </p:cNvPr>
          <p:cNvSpPr>
            <a:spLocks noGrp="1"/>
          </p:cNvSpPr>
          <p:nvPr>
            <p:ph type="title"/>
          </p:nvPr>
        </p:nvSpPr>
        <p:spPr>
          <a:xfrm>
            <a:off x="607519" y="-84943"/>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br>
              <a:rPr lang="en-IN" sz="3600" b="1" dirty="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AE10EC0-BAE6-D8BC-56F1-857A33B8B1A5}"/>
              </a:ext>
            </a:extLst>
          </p:cNvPr>
          <p:cNvSpPr>
            <a:spLocks noGrp="1"/>
          </p:cNvSpPr>
          <p:nvPr>
            <p:ph idx="1"/>
          </p:nvPr>
        </p:nvSpPr>
        <p:spPr>
          <a:xfrm>
            <a:off x="838200" y="794975"/>
            <a:ext cx="10515600" cy="5268049"/>
          </a:xfrm>
        </p:spPr>
        <p:txBody>
          <a:bodyPr>
            <a:noAutofit/>
          </a:bodyPr>
          <a:lstStyle/>
          <a:p>
            <a:pPr algn="just"/>
            <a:r>
              <a:rPr lang="en-US" sz="2300" dirty="0">
                <a:latin typeface="Times New Roman" panose="02020603050405020304" pitchFamily="18" charset="0"/>
                <a:cs typeface="Times New Roman" panose="02020603050405020304" pitchFamily="18" charset="0"/>
              </a:rPr>
              <a:t>Image fusion is the process of combining multiple images into a single image to enhance information and improve quality.</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Multimodal imaging (MMI) is the use of two or more different imaging techniques(CT, MRI, PET etc.) in the same examination to gather more comprehensive information about a patient.</a:t>
            </a:r>
          </a:p>
          <a:p>
            <a:pPr marL="0" indent="0" algn="just">
              <a:buNone/>
            </a:pPr>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Image fusion enhances  the image quality by combining complementary information from multiple sources for better analysis and interpretation.</a:t>
            </a:r>
          </a:p>
          <a:p>
            <a:pPr marL="0" indent="0" algn="just">
              <a:buNone/>
            </a:pPr>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Meningioma is a usually benign tumor that forms in the meninges, the protective layers surrounding the brain and spinal cord.</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Glioblastoma is an aggressive and fast-growing Malignant brain tumor that originates from glial cells.</a:t>
            </a:r>
          </a:p>
          <a:p>
            <a:pPr algn="just"/>
            <a:endParaRPr lang="en-US"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3447144112"/>
      </p:ext>
    </p:ext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5B010F-D87F-BFEF-404A-2491D259212D}"/>
              </a:ext>
            </a:extLst>
          </p:cNvPr>
          <p:cNvSpPr>
            <a:spLocks noGrp="1"/>
          </p:cNvSpPr>
          <p:nvPr>
            <p:ph type="title"/>
          </p:nvPr>
        </p:nvSpPr>
        <p:spPr>
          <a:xfrm>
            <a:off x="838200" y="256973"/>
            <a:ext cx="10515600" cy="1325563"/>
          </a:xfrm>
        </p:spPr>
        <p:txBody>
          <a:bodyPr/>
          <a:lstStyle/>
          <a:p>
            <a:pPr algn="ctr"/>
            <a:r>
              <a:rPr lang="en-US" sz="3600" b="1" dirty="0">
                <a:latin typeface="Times New Roman" panose="02020603050405020304" pitchFamily="18" charset="0"/>
                <a:cs typeface="Times New Roman" panose="02020603050405020304" pitchFamily="18" charset="0"/>
              </a:rPr>
              <a:t>LITERATURE REVIEW</a:t>
            </a:r>
            <a:r>
              <a:rPr lang="en-US" sz="4400" dirty="0">
                <a:latin typeface="Times New Roman" panose="02020603050405020304" pitchFamily="18" charset="0"/>
                <a:cs typeface="Times New Roman" panose="02020603050405020304" pitchFamily="18" charset="0"/>
              </a:rPr>
              <a:t/>
            </a:r>
            <a:br>
              <a:rPr lang="en-US" sz="4400" dirty="0">
                <a:latin typeface="Times New Roman" panose="02020603050405020304" pitchFamily="18" charset="0"/>
                <a:cs typeface="Times New Roman" panose="02020603050405020304" pitchFamily="18" charset="0"/>
              </a:rPr>
            </a:br>
            <a:endParaRPr lang="en-IN" dirty="0"/>
          </a:p>
        </p:txBody>
      </p:sp>
      <p:graphicFrame>
        <p:nvGraphicFramePr>
          <p:cNvPr id="5" name="Table 4">
            <a:extLst>
              <a:ext uri="{FF2B5EF4-FFF2-40B4-BE49-F238E27FC236}">
                <a16:creationId xmlns:a16="http://schemas.microsoft.com/office/drawing/2014/main" xmlns="" id="{6578EE30-CD7D-CC59-36CC-07905B8A8A6D}"/>
              </a:ext>
            </a:extLst>
          </p:cNvPr>
          <p:cNvGraphicFramePr>
            <a:graphicFrameLocks noGrp="1"/>
          </p:cNvGraphicFramePr>
          <p:nvPr>
            <p:extLst>
              <p:ext uri="{D42A27DB-BD31-4B8C-83A1-F6EECF244321}">
                <p14:modId xmlns:p14="http://schemas.microsoft.com/office/powerpoint/2010/main" val="1791805907"/>
              </p:ext>
            </p:extLst>
          </p:nvPr>
        </p:nvGraphicFramePr>
        <p:xfrm>
          <a:off x="2032000" y="1091204"/>
          <a:ext cx="8127999" cy="52171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xmlns="" val="1338953522"/>
                    </a:ext>
                  </a:extLst>
                </a:gridCol>
                <a:gridCol w="2709333">
                  <a:extLst>
                    <a:ext uri="{9D8B030D-6E8A-4147-A177-3AD203B41FA5}">
                      <a16:colId xmlns:a16="http://schemas.microsoft.com/office/drawing/2014/main" xmlns="" val="2626850669"/>
                    </a:ext>
                  </a:extLst>
                </a:gridCol>
                <a:gridCol w="2709333">
                  <a:extLst>
                    <a:ext uri="{9D8B030D-6E8A-4147-A177-3AD203B41FA5}">
                      <a16:colId xmlns:a16="http://schemas.microsoft.com/office/drawing/2014/main" xmlns="" val="3904886618"/>
                    </a:ext>
                  </a:extLst>
                </a:gridCol>
              </a:tblGrid>
              <a:tr h="370840">
                <a:tc>
                  <a:txBody>
                    <a:bodyPr/>
                    <a:lstStyle/>
                    <a:p>
                      <a:pPr algn="just"/>
                      <a:r>
                        <a:rPr lang="en-IN" sz="1200" dirty="0">
                          <a:latin typeface="Times New Roman" panose="02020603050405020304" pitchFamily="18" charset="0"/>
                          <a:cs typeface="Times New Roman" panose="02020603050405020304" pitchFamily="18" charset="0"/>
                        </a:rPr>
                        <a:t>Paper</a:t>
                      </a:r>
                    </a:p>
                  </a:txBody>
                  <a:tcPr/>
                </a:tc>
                <a:tc>
                  <a:txBody>
                    <a:bodyPr/>
                    <a:lstStyle/>
                    <a:p>
                      <a:pPr algn="just"/>
                      <a:r>
                        <a:rPr lang="en-IN" sz="1200">
                          <a:latin typeface="Times New Roman" panose="02020603050405020304" pitchFamily="18" charset="0"/>
                          <a:cs typeface="Times New Roman" panose="02020603050405020304" pitchFamily="18" charset="0"/>
                        </a:rPr>
                        <a:t>Year</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a:latin typeface="Times New Roman" panose="02020603050405020304" pitchFamily="18" charset="0"/>
                          <a:cs typeface="Times New Roman" panose="02020603050405020304" pitchFamily="18" charset="0"/>
                        </a:rPr>
                        <a:t>Summary</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139118454"/>
                  </a:ext>
                </a:extLst>
              </a:tr>
              <a:tr h="370840">
                <a:tc>
                  <a:txBody>
                    <a:bodyPr/>
                    <a:lstStyle/>
                    <a:p>
                      <a:pPr algn="just"/>
                      <a:r>
                        <a:rPr lang="en-IN" sz="1200" dirty="0">
                          <a:latin typeface="Times New Roman" panose="02020603050405020304" pitchFamily="18" charset="0"/>
                          <a:cs typeface="Times New Roman" panose="02020603050405020304" pitchFamily="18" charset="0"/>
                        </a:rPr>
                        <a:t>"CT and MRI Medical Image Fusion Using Discrete Wavelet Transform" by </a:t>
                      </a:r>
                      <a:r>
                        <a:rPr lang="en-IN" sz="1200" dirty="0" err="1">
                          <a:latin typeface="Times New Roman" panose="02020603050405020304" pitchFamily="18" charset="0"/>
                          <a:cs typeface="Times New Roman" panose="02020603050405020304" pitchFamily="18" charset="0"/>
                        </a:rPr>
                        <a:t>Molham</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Moshantat</a:t>
                      </a:r>
                      <a:r>
                        <a:rPr lang="en-IN" sz="1200" dirty="0">
                          <a:latin typeface="Times New Roman" panose="02020603050405020304" pitchFamily="18" charset="0"/>
                          <a:cs typeface="Times New Roman" panose="02020603050405020304" pitchFamily="18" charset="0"/>
                        </a:rPr>
                        <a:t>, Saeid </a:t>
                      </a:r>
                      <a:r>
                        <a:rPr lang="en-IN" sz="1200" dirty="0" err="1">
                          <a:latin typeface="Times New Roman" panose="02020603050405020304" pitchFamily="18" charset="0"/>
                          <a:cs typeface="Times New Roman" panose="02020603050405020304" pitchFamily="18" charset="0"/>
                        </a:rPr>
                        <a:t>Karamzadeh</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a:latin typeface="Times New Roman" panose="02020603050405020304" pitchFamily="18" charset="0"/>
                          <a:cs typeface="Times New Roman" panose="02020603050405020304" pitchFamily="18" charset="0"/>
                        </a:rPr>
                        <a:t>2019</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IN" sz="1200">
                          <a:latin typeface="Times New Roman" panose="02020603050405020304" pitchFamily="18" charset="0"/>
                          <a:cs typeface="Times New Roman" panose="02020603050405020304" pitchFamily="18" charset="0"/>
                        </a:rPr>
                        <a:t>Discusses the use of Discrete Wavelet Transform (DWT) for fusing CT and MRI images. The fusion enhances diagnostic accuracy by combining structural data from CT with detailed tissue information from MRI, using wavelet functions to improve image quality metrics like PSNR and entropy.</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48133774"/>
                  </a:ext>
                </a:extLst>
              </a:tr>
              <a:tr h="370840">
                <a:tc>
                  <a:txBody>
                    <a:bodyPr/>
                    <a:lstStyle/>
                    <a:p>
                      <a:pPr algn="just"/>
                      <a:r>
                        <a:rPr lang="en-IN" sz="1200" dirty="0">
                          <a:latin typeface="Times New Roman" panose="02020603050405020304" pitchFamily="18" charset="0"/>
                          <a:cs typeface="Times New Roman" panose="02020603050405020304" pitchFamily="18" charset="0"/>
                        </a:rPr>
                        <a:t>"A Robust and Secured Fusion-Based Hybrid Medical Image Watermarking Approach Using RDWT-DWT-MSVD with Hyperchaotic System-Fibonacci Q Matrix Encryption" by M. </a:t>
                      </a:r>
                      <a:r>
                        <a:rPr lang="en-IN" sz="1200" dirty="0" err="1">
                          <a:latin typeface="Times New Roman" panose="02020603050405020304" pitchFamily="18" charset="0"/>
                          <a:cs typeface="Times New Roman" panose="02020603050405020304" pitchFamily="18" charset="0"/>
                        </a:rPr>
                        <a:t>Sajeer</a:t>
                      </a:r>
                      <a:r>
                        <a:rPr lang="en-IN" sz="1200" dirty="0">
                          <a:latin typeface="Times New Roman" panose="02020603050405020304" pitchFamily="18" charset="0"/>
                          <a:cs typeface="Times New Roman" panose="02020603050405020304" pitchFamily="18" charset="0"/>
                        </a:rPr>
                        <a:t>, Ashutosh Mishra</a:t>
                      </a:r>
                    </a:p>
                  </a:txBody>
                  <a:tcPr/>
                </a:tc>
                <a:tc>
                  <a:txBody>
                    <a:bodyPr/>
                    <a:lstStyle/>
                    <a:p>
                      <a:pPr algn="ctr"/>
                      <a:r>
                        <a:rPr lang="en-IN" sz="1200" dirty="0">
                          <a:latin typeface="Times New Roman" panose="02020603050405020304" pitchFamily="18" charset="0"/>
                          <a:cs typeface="Times New Roman" panose="02020603050405020304" pitchFamily="18" charset="0"/>
                        </a:rPr>
                        <a:t>2023</a:t>
                      </a:r>
                    </a:p>
                  </a:txBody>
                  <a:tcPr/>
                </a:tc>
                <a:tc>
                  <a:txBody>
                    <a:bodyPr/>
                    <a:lstStyle/>
                    <a:p>
                      <a:pPr algn="just"/>
                      <a:r>
                        <a:rPr lang="en-IN" sz="1200">
                          <a:latin typeface="Times New Roman" panose="02020603050405020304" pitchFamily="18" charset="0"/>
                          <a:cs typeface="Times New Roman" panose="02020603050405020304" pitchFamily="18" charset="0"/>
                        </a:rPr>
                        <a:t>Focuses on medical image watermarking using hybrid techniques involving RDWT, DWT, and MSVD, along with Hyperchaotic systems and Fibonacci Q Matrix encryption. Aims to enhance the reliability of brain tumor detection by integrating advanced fusion algorithms for secure and accurate medical image analysis.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448239989"/>
                  </a:ext>
                </a:extLst>
              </a:tr>
              <a:tr h="370840">
                <a:tc>
                  <a:txBody>
                    <a:bodyPr/>
                    <a:lstStyle/>
                    <a:p>
                      <a:pPr algn="just"/>
                      <a:r>
                        <a:rPr lang="en-IN" sz="1200">
                          <a:latin typeface="Times New Roman" panose="02020603050405020304" pitchFamily="18" charset="0"/>
                          <a:cs typeface="Times New Roman" panose="02020603050405020304" pitchFamily="18" charset="0"/>
                        </a:rPr>
                        <a:t>"A REVIEW: IMAGE FUSION USING DCT AND DWT" by Jaskeerat Kaur, Sandhya, Priyanka Ganjoo, Musheer Vaqur, Kapil Joshi</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a:latin typeface="Times New Roman" panose="02020603050405020304" pitchFamily="18" charset="0"/>
                          <a:cs typeface="Times New Roman" panose="02020603050405020304" pitchFamily="18" charset="0"/>
                        </a:rPr>
                        <a:t>2019</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US" sz="1200" dirty="0">
                          <a:latin typeface="Times New Roman" panose="02020603050405020304" pitchFamily="18" charset="0"/>
                          <a:cs typeface="Times New Roman" panose="02020603050405020304" pitchFamily="18" charset="0"/>
                        </a:rPr>
                        <a:t>Reviews the role of DWT and DCT techniques in image fusion, highlighting their ability to improve sharpness, accuracy, and information content. Emphasizes their importance in medical imaging for high-quality, multi-resolution images used in analysis and real-world applications.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058040548"/>
                  </a:ext>
                </a:extLst>
              </a:tr>
            </a:tbl>
          </a:graphicData>
        </a:graphic>
      </p:graphicFrame>
    </p:spTree>
    <p:extLst>
      <p:ext uri="{BB962C8B-B14F-4D97-AF65-F5344CB8AC3E}">
        <p14:creationId xmlns:p14="http://schemas.microsoft.com/office/powerpoint/2010/main" val="1261058580"/>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0EF626-7522-7801-2E9E-75E79E1EAD0A}"/>
              </a:ext>
            </a:extLst>
          </p:cNvPr>
          <p:cNvSpPr>
            <a:spLocks noGrp="1"/>
          </p:cNvSpPr>
          <p:nvPr>
            <p:ph type="title"/>
          </p:nvPr>
        </p:nvSpPr>
        <p:spPr>
          <a:xfrm>
            <a:off x="710381" y="119319"/>
            <a:ext cx="10515600" cy="680679"/>
          </a:xfrm>
        </p:spPr>
        <p:txBody>
          <a:bodyPr>
            <a:normAutofit/>
          </a:bodyPr>
          <a:lstStyle/>
          <a:p>
            <a:pPr algn="ctr"/>
            <a:r>
              <a:rPr lang="en-IN" sz="36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xmlns="" id="{A377C9BC-52F5-C597-890F-F6593A3F11B6}"/>
              </a:ext>
            </a:extLst>
          </p:cNvPr>
          <p:cNvSpPr>
            <a:spLocks noGrp="1"/>
          </p:cNvSpPr>
          <p:nvPr>
            <p:ph idx="1"/>
          </p:nvPr>
        </p:nvSpPr>
        <p:spPr>
          <a:xfrm>
            <a:off x="710381" y="1178539"/>
            <a:ext cx="10515600" cy="5679461"/>
          </a:xfrm>
        </p:spPr>
        <p:txBody>
          <a:bodyPr>
            <a:normAutofit/>
          </a:bodyPr>
          <a:lstStyle/>
          <a:p>
            <a:pPr marL="342900" lvl="0" indent="-342900" algn="just">
              <a:lnSpc>
                <a:spcPct val="150000"/>
              </a:lnSpc>
              <a:buFont typeface="Symbol" panose="05050102010706020507" pitchFamily="18" charset="2"/>
              <a:buChar char=""/>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To develop a MATLAB-based framework for fusing CT, MRI, and PET images using both Discrete Wavelet Transform(DWT) and Multi-Resolution Singular Value Decomposition (MSVD).</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To enhance image quality by integrating complementary structural, functional, and metabolic information.</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To accurately align input images through image registration techniques for effective fusion.</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IN" sz="2200" dirty="0">
                <a:effectLst/>
                <a:latin typeface="Times New Roman" panose="02020603050405020304" pitchFamily="18" charset="0"/>
                <a:ea typeface="Calibri" panose="020F0502020204030204" pitchFamily="34" charset="0"/>
                <a:cs typeface="Times New Roman" panose="02020603050405020304" pitchFamily="18" charset="0"/>
              </a:rPr>
              <a:t>To improve diagnostic accuracy for Glioblastoma (GBM) and Meningioma, aiding clinical decision-making</a:t>
            </a:r>
            <a:r>
              <a:rPr lang="en-IN" sz="22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4969228"/>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CA8654-5858-0223-88DE-AF5A6571B0EE}"/>
              </a:ext>
            </a:extLst>
          </p:cNvPr>
          <p:cNvSpPr>
            <a:spLocks noGrp="1"/>
          </p:cNvSpPr>
          <p:nvPr>
            <p:ph type="title"/>
          </p:nvPr>
        </p:nvSpPr>
        <p:spPr>
          <a:xfrm>
            <a:off x="838200" y="365125"/>
            <a:ext cx="10515600" cy="886183"/>
          </a:xfrm>
        </p:spPr>
        <p:txBody>
          <a:bodyPr>
            <a:normAutofit/>
          </a:bodyPr>
          <a:lstStyle/>
          <a:p>
            <a:pPr algn="ctr"/>
            <a:r>
              <a:rPr lang="en-IN" sz="3600"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xmlns="" id="{1547966E-DF9E-CE67-C893-5D4AE562E093}"/>
              </a:ext>
            </a:extLst>
          </p:cNvPr>
          <p:cNvSpPr>
            <a:spLocks noGrp="1"/>
          </p:cNvSpPr>
          <p:nvPr>
            <p:ph idx="1"/>
          </p:nvPr>
        </p:nvSpPr>
        <p:spPr>
          <a:xfrm>
            <a:off x="621890" y="1347020"/>
            <a:ext cx="10515600" cy="5275005"/>
          </a:xfrm>
        </p:spPr>
        <p:txBody>
          <a:bodyPr>
            <a:normAutofit/>
          </a:bodyPr>
          <a:lstStyle/>
          <a:p>
            <a:pPr marL="0" indent="0">
              <a:buNone/>
            </a:pPr>
            <a:r>
              <a:rPr lang="en-IN" u="sng" dirty="0">
                <a:latin typeface="Times New Roman" panose="02020603050405020304" pitchFamily="18" charset="0"/>
                <a:cs typeface="Times New Roman" panose="02020603050405020304" pitchFamily="18" charset="0"/>
              </a:rPr>
              <a:t>FLOW CHART: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lgn="ctr">
              <a:buNone/>
            </a:pPr>
            <a:endParaRPr lang="en-IN" sz="1800" dirty="0">
              <a:latin typeface="Times New Roman" panose="02020603050405020304" pitchFamily="18" charset="0"/>
              <a:cs typeface="Times New Roman" panose="02020603050405020304" pitchFamily="18" charset="0"/>
            </a:endParaRPr>
          </a:p>
          <a:p>
            <a:pPr marL="0" indent="0" algn="ctr">
              <a:buNone/>
            </a:pPr>
            <a:r>
              <a:rPr lang="en-IN" sz="1800" dirty="0">
                <a:latin typeface="Times New Roman" panose="02020603050405020304" pitchFamily="18" charset="0"/>
                <a:cs typeface="Times New Roman" panose="02020603050405020304" pitchFamily="18" charset="0"/>
              </a:rPr>
              <a:t>OVERVIEW OF PROPOSED WORK</a:t>
            </a:r>
          </a:p>
        </p:txBody>
      </p:sp>
      <p:pic>
        <p:nvPicPr>
          <p:cNvPr id="4" name="Content Placeholder 3">
            <a:extLst>
              <a:ext uri="{FF2B5EF4-FFF2-40B4-BE49-F238E27FC236}">
                <a16:creationId xmlns:a16="http://schemas.microsoft.com/office/drawing/2014/main" xmlns="" id="{35D06C2D-EE67-8975-0741-078DFE3D6FDE}"/>
              </a:ext>
            </a:extLst>
          </p:cNvPr>
          <p:cNvPicPr>
            <a:picLocks/>
          </p:cNvPicPr>
          <p:nvPr/>
        </p:nvPicPr>
        <p:blipFill>
          <a:blip r:embed="rId2">
            <a:extLst>
              <a:ext uri="{28A0092B-C50C-407E-A947-70E740481C1C}">
                <a14:useLocalDpi xmlns:a14="http://schemas.microsoft.com/office/drawing/2010/main" val="0"/>
              </a:ext>
            </a:extLst>
          </a:blip>
          <a:srcRect t="1505" r="-1" b="36585"/>
          <a:stretch/>
        </p:blipFill>
        <p:spPr bwMode="auto">
          <a:xfrm>
            <a:off x="3714184" y="1712119"/>
            <a:ext cx="4331012" cy="4023698"/>
          </a:xfrm>
          <a:prstGeom prst="rect">
            <a:avLst/>
          </a:prstGeom>
          <a:noFill/>
          <a:ln>
            <a:noFill/>
          </a:ln>
        </p:spPr>
      </p:pic>
    </p:spTree>
    <p:extLst>
      <p:ext uri="{BB962C8B-B14F-4D97-AF65-F5344CB8AC3E}">
        <p14:creationId xmlns:p14="http://schemas.microsoft.com/office/powerpoint/2010/main" val="317367951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C6F981-49C5-1756-1CD5-6C32BD1E543D}"/>
              </a:ext>
            </a:extLst>
          </p:cNvPr>
          <p:cNvSpPr>
            <a:spLocks noGrp="1"/>
          </p:cNvSpPr>
          <p:nvPr>
            <p:ph type="title"/>
          </p:nvPr>
        </p:nvSpPr>
        <p:spPr>
          <a:xfrm>
            <a:off x="838200" y="274320"/>
            <a:ext cx="10515600" cy="1259840"/>
          </a:xfrm>
        </p:spPr>
        <p:txBody>
          <a:bodyPr>
            <a:normAutofit fontScale="90000"/>
          </a:bodyPr>
          <a:lstStyle/>
          <a:p>
            <a:r>
              <a:rPr lang="en-IN" sz="3000" u="sng" dirty="0">
                <a:latin typeface="Times New Roman" panose="02020603050405020304" pitchFamily="18" charset="0"/>
                <a:cs typeface="Times New Roman" panose="02020603050405020304" pitchFamily="18" charset="0"/>
              </a:rPr>
              <a:t>DISCRETE WAVELET TRANSFORM TECHNIQUES:</a:t>
            </a:r>
            <a:r>
              <a:rPr lang="en-IN" sz="3000" dirty="0">
                <a:latin typeface="Times New Roman" panose="02020603050405020304" pitchFamily="18" charset="0"/>
                <a:cs typeface="Times New Roman" panose="02020603050405020304" pitchFamily="18" charset="0"/>
              </a:rPr>
              <a:t/>
            </a:r>
            <a:br>
              <a:rPr lang="en-IN" sz="3000" dirty="0">
                <a:latin typeface="Times New Roman" panose="02020603050405020304" pitchFamily="18" charset="0"/>
                <a:cs typeface="Times New Roman" panose="02020603050405020304" pitchFamily="18" charset="0"/>
              </a:rPr>
            </a:br>
            <a:r>
              <a:rPr lang="en-IN" sz="3000" dirty="0">
                <a:latin typeface="Times New Roman" panose="02020603050405020304" pitchFamily="18" charset="0"/>
                <a:cs typeface="Times New Roman" panose="02020603050405020304" pitchFamily="18" charset="0"/>
              </a:rPr>
              <a:t/>
            </a:r>
            <a:br>
              <a:rPr lang="en-IN" sz="30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 </a:t>
            </a:r>
          </a:p>
        </p:txBody>
      </p:sp>
      <p:pic>
        <p:nvPicPr>
          <p:cNvPr id="5" name="Content Placeholder 4">
            <a:extLst>
              <a:ext uri="{FF2B5EF4-FFF2-40B4-BE49-F238E27FC236}">
                <a16:creationId xmlns:a16="http://schemas.microsoft.com/office/drawing/2014/main" xmlns="" id="{8D5ED7D2-6C98-67A9-78EC-B26A582EA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4284" y="2743199"/>
            <a:ext cx="9763432" cy="3749675"/>
          </a:xfrm>
        </p:spPr>
      </p:pic>
      <p:sp>
        <p:nvSpPr>
          <p:cNvPr id="3" name="TextBox 2">
            <a:extLst>
              <a:ext uri="{FF2B5EF4-FFF2-40B4-BE49-F238E27FC236}">
                <a16:creationId xmlns:a16="http://schemas.microsoft.com/office/drawing/2014/main" xmlns="" id="{489FA95F-42F8-DFEA-134B-CFFEFE68A3AB}"/>
              </a:ext>
            </a:extLst>
          </p:cNvPr>
          <p:cNvSpPr txBox="1"/>
          <p:nvPr/>
        </p:nvSpPr>
        <p:spPr>
          <a:xfrm>
            <a:off x="955039" y="1300480"/>
            <a:ext cx="10135747" cy="1292662"/>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DWT (Discrete Wavelet Transform) is a signal processing technique that decomposes an images into multiple frequency sub - bands for</a:t>
            </a:r>
            <a:br>
              <a:rPr lang="en-US" sz="2600" dirty="0">
                <a:latin typeface="Times New Roman" panose="02020603050405020304" pitchFamily="18" charset="0"/>
                <a:cs typeface="Times New Roman" panose="02020603050405020304" pitchFamily="18" charset="0"/>
              </a:rPr>
            </a:br>
            <a:endParaRPr lang="en-IN" sz="2600" dirty="0"/>
          </a:p>
        </p:txBody>
      </p:sp>
      <p:sp>
        <p:nvSpPr>
          <p:cNvPr id="4" name="Rectangle 3">
            <a:extLst>
              <a:ext uri="{FF2B5EF4-FFF2-40B4-BE49-F238E27FC236}">
                <a16:creationId xmlns:a16="http://schemas.microsoft.com/office/drawing/2014/main" xmlns="" id="{EF12FC5B-10DA-97E6-8032-19ED985F8B48}"/>
              </a:ext>
            </a:extLst>
          </p:cNvPr>
          <p:cNvSpPr/>
          <p:nvPr/>
        </p:nvSpPr>
        <p:spPr>
          <a:xfrm>
            <a:off x="905034" y="2100699"/>
            <a:ext cx="5944640" cy="492443"/>
          </a:xfrm>
          <a:prstGeom prst="rect">
            <a:avLst/>
          </a:prstGeom>
          <a:noFill/>
        </p:spPr>
        <p:txBody>
          <a:bodyPr wrap="none" lIns="91440" tIns="45720" rIns="91440" bIns="45720">
            <a:spAutoFit/>
          </a:bodyPr>
          <a:lstStyle/>
          <a:p>
            <a:pPr algn="ctr"/>
            <a:r>
              <a:rPr lang="en-US" sz="2600" dirty="0">
                <a:latin typeface="Times New Roman" panose="02020603050405020304" pitchFamily="18" charset="0"/>
                <a:cs typeface="Times New Roman" panose="02020603050405020304" pitchFamily="18" charset="0"/>
              </a:rPr>
              <a:t>efficient analysis, compression, and fusion.</a:t>
            </a:r>
            <a:endParaRPr lang="en-US" sz="2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24606227"/>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54161E-6D6E-181A-998B-0D5DEE282A05}"/>
              </a:ext>
            </a:extLst>
          </p:cNvPr>
          <p:cNvSpPr>
            <a:spLocks noGrp="1"/>
          </p:cNvSpPr>
          <p:nvPr>
            <p:ph type="title"/>
          </p:nvPr>
        </p:nvSpPr>
        <p:spPr>
          <a:xfrm>
            <a:off x="838200" y="792480"/>
            <a:ext cx="10515600" cy="1838960"/>
          </a:xfrm>
        </p:spPr>
        <p:txBody>
          <a:bodyPr>
            <a:normAutofit fontScale="90000"/>
          </a:bodyPr>
          <a:lstStyle/>
          <a:p>
            <a:pPr algn="just"/>
            <a:r>
              <a:rPr lang="en-IN" sz="3000" dirty="0">
                <a:latin typeface="Times New Roman" panose="02020603050405020304" pitchFamily="18" charset="0"/>
                <a:cs typeface="Times New Roman" panose="02020603050405020304" pitchFamily="18" charset="0"/>
              </a:rPr>
              <a:t/>
            </a:r>
            <a:br>
              <a:rPr lang="en-IN" sz="3000" dirty="0">
                <a:latin typeface="Times New Roman" panose="02020603050405020304" pitchFamily="18" charset="0"/>
                <a:cs typeface="Times New Roman" panose="02020603050405020304" pitchFamily="18" charset="0"/>
              </a:rPr>
            </a:br>
            <a:r>
              <a:rPr lang="en-IN" sz="3000" dirty="0">
                <a:latin typeface="Times New Roman" panose="02020603050405020304" pitchFamily="18" charset="0"/>
                <a:cs typeface="Times New Roman" panose="02020603050405020304" pitchFamily="18" charset="0"/>
              </a:rPr>
              <a:t/>
            </a:r>
            <a:br>
              <a:rPr lang="en-IN" sz="30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MSVD (Multi-Resolution Singular Value Decomposition) is an extension of Singular Value Decomposition (SVD) used in image processing to analyze and process images at multiple scales, improving feature extraction and fusion.</a:t>
            </a:r>
            <a:r>
              <a:rPr lang="en-IN" sz="2700" dirty="0">
                <a:latin typeface="Times New Roman" panose="02020603050405020304" pitchFamily="18" charset="0"/>
                <a:cs typeface="Times New Roman" panose="02020603050405020304" pitchFamily="18" charset="0"/>
              </a:rPr>
              <a:t/>
            </a:r>
            <a:br>
              <a:rPr lang="en-IN" sz="2700" dirty="0">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xmlns="" id="{1CB21798-C52A-9049-56A0-88CF89A1C4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2824479"/>
            <a:ext cx="9232489" cy="3668395"/>
          </a:xfrm>
        </p:spPr>
      </p:pic>
      <p:sp>
        <p:nvSpPr>
          <p:cNvPr id="4" name="Rectangle 3">
            <a:extLst>
              <a:ext uri="{FF2B5EF4-FFF2-40B4-BE49-F238E27FC236}">
                <a16:creationId xmlns:a16="http://schemas.microsoft.com/office/drawing/2014/main" xmlns="" id="{86B6ED77-4367-F541-6EDF-419DCC6D7FA1}"/>
              </a:ext>
            </a:extLst>
          </p:cNvPr>
          <p:cNvSpPr/>
          <p:nvPr/>
        </p:nvSpPr>
        <p:spPr>
          <a:xfrm>
            <a:off x="1231431" y="561647"/>
            <a:ext cx="9729137" cy="461665"/>
          </a:xfrm>
          <a:prstGeom prst="rect">
            <a:avLst/>
          </a:prstGeom>
          <a:noFill/>
        </p:spPr>
        <p:txBody>
          <a:bodyPr wrap="none" lIns="91440" tIns="45720" rIns="91440" bIns="45720">
            <a:spAutoFit/>
          </a:bodyPr>
          <a:lstStyle/>
          <a:p>
            <a:pPr algn="ctr"/>
            <a:r>
              <a:rPr lang="en-IN" sz="2400" b="0" u="sng"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MULTI-RESOLUTION SINGULAR VALUE DECOMPOSITION (MSVD):</a:t>
            </a:r>
            <a:endParaRPr lang="en-IN" sz="2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8394421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998F9B-7CE1-CBED-4B49-449585802A95}"/>
              </a:ext>
            </a:extLst>
          </p:cNvPr>
          <p:cNvSpPr>
            <a:spLocks noGrp="1"/>
          </p:cNvSpPr>
          <p:nvPr>
            <p:ph type="title"/>
          </p:nvPr>
        </p:nvSpPr>
        <p:spPr>
          <a:xfrm>
            <a:off x="838200" y="365126"/>
            <a:ext cx="10515600" cy="785248"/>
          </a:xfrm>
        </p:spPr>
        <p:txBody>
          <a:bodyPr>
            <a:normAutofit/>
          </a:bodyPr>
          <a:lstStyle/>
          <a:p>
            <a:pPr algn="ctr"/>
            <a:r>
              <a:rPr lang="en-IN" sz="3600" b="1" dirty="0">
                <a:latin typeface="Times New Roman" panose="02020603050405020304" pitchFamily="18" charset="0"/>
                <a:cs typeface="Times New Roman" panose="02020603050405020304" pitchFamily="18" charset="0"/>
              </a:rPr>
              <a:t>PERFORMANCE METRICES</a:t>
            </a:r>
          </a:p>
        </p:txBody>
      </p:sp>
      <p:sp>
        <p:nvSpPr>
          <p:cNvPr id="3" name="Content Placeholder 2">
            <a:extLst>
              <a:ext uri="{FF2B5EF4-FFF2-40B4-BE49-F238E27FC236}">
                <a16:creationId xmlns:a16="http://schemas.microsoft.com/office/drawing/2014/main" xmlns="" id="{2181D6C6-3743-AD74-27D1-F625CEB2F0D6}"/>
              </a:ext>
            </a:extLst>
          </p:cNvPr>
          <p:cNvSpPr>
            <a:spLocks noGrp="1"/>
          </p:cNvSpPr>
          <p:nvPr>
            <p:ph idx="1"/>
          </p:nvPr>
        </p:nvSpPr>
        <p:spPr>
          <a:xfrm>
            <a:off x="838200" y="1415846"/>
            <a:ext cx="10515600" cy="4761117"/>
          </a:xfrm>
        </p:spPr>
        <p:txBody>
          <a:bodyPr>
            <a:normAutofit/>
          </a:bodyPr>
          <a:lstStyle/>
          <a:p>
            <a:pPr algn="just"/>
            <a:r>
              <a:rPr lang="en-US" sz="2600" dirty="0">
                <a:latin typeface="Times New Roman" panose="02020603050405020304" pitchFamily="18" charset="0"/>
                <a:cs typeface="Times New Roman" panose="02020603050405020304" pitchFamily="18" charset="0"/>
              </a:rPr>
              <a:t>Mean</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Entropy  </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Standard Deviation</a:t>
            </a:r>
          </a:p>
          <a:p>
            <a:pPr marL="0" indent="0" algn="just">
              <a:buNone/>
            </a:pP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Mutual Information (Ma and Mb)</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 Fusion Factor (FF)</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784046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9E6EBA-3B8C-2E51-8CB1-B5DCAF4C34CF}"/>
              </a:ext>
            </a:extLst>
          </p:cNvPr>
          <p:cNvSpPr>
            <a:spLocks noGrp="1"/>
          </p:cNvSpPr>
          <p:nvPr>
            <p:ph type="title"/>
          </p:nvPr>
        </p:nvSpPr>
        <p:spPr>
          <a:xfrm>
            <a:off x="838200" y="40516"/>
            <a:ext cx="10515600" cy="736088"/>
          </a:xfrm>
        </p:spPr>
        <p:txBody>
          <a:bodyPr>
            <a:normAutofit/>
          </a:bodyPr>
          <a:lstStyle/>
          <a:p>
            <a:pPr algn="ctr"/>
            <a:r>
              <a:rPr lang="en-IN" sz="3600" b="1" dirty="0">
                <a:latin typeface="Times New Roman" panose="02020603050405020304" pitchFamily="18" charset="0"/>
                <a:cs typeface="Times New Roman" panose="02020603050405020304" pitchFamily="18" charset="0"/>
              </a:rPr>
              <a:t>IMPLEMENTATION AND RESULTS</a:t>
            </a:r>
          </a:p>
        </p:txBody>
      </p:sp>
      <p:sp>
        <p:nvSpPr>
          <p:cNvPr id="7" name="TextBox 6">
            <a:extLst>
              <a:ext uri="{FF2B5EF4-FFF2-40B4-BE49-F238E27FC236}">
                <a16:creationId xmlns:a16="http://schemas.microsoft.com/office/drawing/2014/main" xmlns="" id="{5ABE0D6C-42D7-6E05-7597-C0B592CA2476}"/>
              </a:ext>
            </a:extLst>
          </p:cNvPr>
          <p:cNvSpPr txBox="1"/>
          <p:nvPr/>
        </p:nvSpPr>
        <p:spPr>
          <a:xfrm>
            <a:off x="838200" y="907789"/>
            <a:ext cx="3038168" cy="492443"/>
          </a:xfrm>
          <a:prstGeom prst="rect">
            <a:avLst/>
          </a:prstGeom>
          <a:noFill/>
        </p:spPr>
        <p:txBody>
          <a:bodyPr wrap="square" rtlCol="0">
            <a:spAutoFit/>
          </a:bodyPr>
          <a:lstStyle/>
          <a:p>
            <a:r>
              <a:rPr lang="en-IN" sz="2600" dirty="0">
                <a:latin typeface="Times New Roman" panose="02020603050405020304" pitchFamily="18" charset="0"/>
                <a:cs typeface="Times New Roman" panose="02020603050405020304" pitchFamily="18" charset="0"/>
              </a:rPr>
              <a:t>Input Data Sets:</a:t>
            </a:r>
          </a:p>
        </p:txBody>
      </p:sp>
      <p:sp>
        <p:nvSpPr>
          <p:cNvPr id="14" name="TextBox 13">
            <a:extLst>
              <a:ext uri="{FF2B5EF4-FFF2-40B4-BE49-F238E27FC236}">
                <a16:creationId xmlns:a16="http://schemas.microsoft.com/office/drawing/2014/main" xmlns="" id="{87EFB526-A767-26B4-1C19-87C0AC432428}"/>
              </a:ext>
            </a:extLst>
          </p:cNvPr>
          <p:cNvSpPr txBox="1"/>
          <p:nvPr/>
        </p:nvSpPr>
        <p:spPr>
          <a:xfrm>
            <a:off x="3463341" y="3402067"/>
            <a:ext cx="4758675"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Input data set 1: (a) MRI (b) CT of  Glioblastoma</a:t>
            </a:r>
          </a:p>
        </p:txBody>
      </p:sp>
      <p:sp>
        <p:nvSpPr>
          <p:cNvPr id="17" name="TextBox 16">
            <a:extLst>
              <a:ext uri="{FF2B5EF4-FFF2-40B4-BE49-F238E27FC236}">
                <a16:creationId xmlns:a16="http://schemas.microsoft.com/office/drawing/2014/main" xmlns="" id="{F6E9055D-7AC7-02CC-DD45-805754ECEFED}"/>
              </a:ext>
            </a:extLst>
          </p:cNvPr>
          <p:cNvSpPr txBox="1"/>
          <p:nvPr/>
        </p:nvSpPr>
        <p:spPr>
          <a:xfrm>
            <a:off x="3589641" y="6012315"/>
            <a:ext cx="4694555"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Input data set 2: (a) MRI (b) CT of Meningioma </a:t>
            </a:r>
          </a:p>
        </p:txBody>
      </p:sp>
      <p:pic>
        <p:nvPicPr>
          <p:cNvPr id="9" name="Picture 8">
            <a:extLst>
              <a:ext uri="{FF2B5EF4-FFF2-40B4-BE49-F238E27FC236}">
                <a16:creationId xmlns:a16="http://schemas.microsoft.com/office/drawing/2014/main" xmlns="" id="{B3389FDF-1E73-3C3E-C12B-06D3B26410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3138" y="3771399"/>
            <a:ext cx="3799083" cy="2179554"/>
          </a:xfrm>
          <a:prstGeom prst="rect">
            <a:avLst/>
          </a:prstGeom>
        </p:spPr>
      </p:pic>
      <p:pic>
        <p:nvPicPr>
          <p:cNvPr id="8" name="Content Placeholder 7">
            <a:extLst>
              <a:ext uri="{FF2B5EF4-FFF2-40B4-BE49-F238E27FC236}">
                <a16:creationId xmlns:a16="http://schemas.microsoft.com/office/drawing/2014/main" xmlns="" id="{E7638650-CCA3-AF9C-EF71-FF3700D4C8A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788932" y="1106927"/>
            <a:ext cx="3799083" cy="2070292"/>
          </a:xfrm>
        </p:spPr>
      </p:pic>
      <p:sp>
        <p:nvSpPr>
          <p:cNvPr id="3" name="TextBox 2">
            <a:extLst>
              <a:ext uri="{FF2B5EF4-FFF2-40B4-BE49-F238E27FC236}">
                <a16:creationId xmlns:a16="http://schemas.microsoft.com/office/drawing/2014/main" xmlns="" id="{D500FE0F-9BC6-A0A4-1960-F1966F6B5864}"/>
              </a:ext>
            </a:extLst>
          </p:cNvPr>
          <p:cNvSpPr txBox="1"/>
          <p:nvPr/>
        </p:nvSpPr>
        <p:spPr>
          <a:xfrm>
            <a:off x="4450080" y="3017520"/>
            <a:ext cx="2471882" cy="369332"/>
          </a:xfrm>
          <a:prstGeom prst="rect">
            <a:avLst/>
          </a:prstGeom>
          <a:noFill/>
        </p:spPr>
        <p:txBody>
          <a:bodyPr wrap="square" rtlCol="0">
            <a:spAutoFit/>
          </a:bodyPr>
          <a:lstStyle/>
          <a:p>
            <a:r>
              <a:rPr lang="en-IN" dirty="0"/>
              <a:t>(a)                                 (b)</a:t>
            </a:r>
          </a:p>
        </p:txBody>
      </p:sp>
      <p:sp>
        <p:nvSpPr>
          <p:cNvPr id="4" name="TextBox 3">
            <a:extLst>
              <a:ext uri="{FF2B5EF4-FFF2-40B4-BE49-F238E27FC236}">
                <a16:creationId xmlns:a16="http://schemas.microsoft.com/office/drawing/2014/main" xmlns="" id="{932F7667-52E8-380A-F59F-D4817E2E749F}"/>
              </a:ext>
            </a:extLst>
          </p:cNvPr>
          <p:cNvSpPr txBox="1"/>
          <p:nvPr/>
        </p:nvSpPr>
        <p:spPr>
          <a:xfrm>
            <a:off x="4815840" y="5751073"/>
            <a:ext cx="2106122" cy="369332"/>
          </a:xfrm>
          <a:prstGeom prst="rect">
            <a:avLst/>
          </a:prstGeom>
          <a:noFill/>
        </p:spPr>
        <p:txBody>
          <a:bodyPr wrap="square" rtlCol="0">
            <a:spAutoFit/>
          </a:bodyPr>
          <a:lstStyle/>
          <a:p>
            <a:r>
              <a:rPr lang="en-IN" dirty="0"/>
              <a:t>(a)                          (b)</a:t>
            </a:r>
          </a:p>
        </p:txBody>
      </p:sp>
    </p:spTree>
    <p:extLst>
      <p:ext uri="{BB962C8B-B14F-4D97-AF65-F5344CB8AC3E}">
        <p14:creationId xmlns:p14="http://schemas.microsoft.com/office/powerpoint/2010/main" val="1777176876"/>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8400C5-A51E-7546-B913-65EF4E10BD15}"/>
              </a:ext>
            </a:extLst>
          </p:cNvPr>
          <p:cNvSpPr>
            <a:spLocks noGrp="1"/>
          </p:cNvSpPr>
          <p:nvPr>
            <p:ph type="title"/>
          </p:nvPr>
        </p:nvSpPr>
        <p:spPr>
          <a:xfrm>
            <a:off x="838199" y="365125"/>
            <a:ext cx="10616382" cy="650207"/>
          </a:xfrm>
        </p:spPr>
        <p:txBody>
          <a:bodyPr>
            <a:noAutofit/>
          </a:bodyPr>
          <a:lstStyle/>
          <a:p>
            <a:r>
              <a:rPr lang="en-IN" sz="2300" u="sng" dirty="0">
                <a:latin typeface="Times New Roman" panose="02020603050405020304" pitchFamily="18" charset="0"/>
                <a:cs typeface="Times New Roman" panose="02020603050405020304" pitchFamily="18" charset="0"/>
              </a:rPr>
              <a:t>Fused Images of Glioblastoma and Meningioma using DWT and MSVD Techniques :</a:t>
            </a:r>
            <a:endParaRPr lang="en-IN" sz="2300" u="sng" dirty="0"/>
          </a:p>
        </p:txBody>
      </p:sp>
      <p:sp>
        <p:nvSpPr>
          <p:cNvPr id="8" name="TextBox 7">
            <a:extLst>
              <a:ext uri="{FF2B5EF4-FFF2-40B4-BE49-F238E27FC236}">
                <a16:creationId xmlns:a16="http://schemas.microsoft.com/office/drawing/2014/main" xmlns="" id="{0F2ED83C-7ECF-0A01-FFBA-EE5D53793423}"/>
              </a:ext>
            </a:extLst>
          </p:cNvPr>
          <p:cNvSpPr txBox="1"/>
          <p:nvPr/>
        </p:nvSpPr>
        <p:spPr>
          <a:xfrm>
            <a:off x="7303998" y="6083131"/>
            <a:ext cx="513117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MSVD fused image for input data set 2</a:t>
            </a:r>
            <a:endParaRPr lang="en-IN"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xmlns="" id="{30B5762E-0901-524E-4A38-9D6A3AA67F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1120" y="981758"/>
            <a:ext cx="2176206" cy="2176206"/>
          </a:xfrm>
        </p:spPr>
      </p:pic>
      <p:pic>
        <p:nvPicPr>
          <p:cNvPr id="12" name="Picture 11">
            <a:extLst>
              <a:ext uri="{FF2B5EF4-FFF2-40B4-BE49-F238E27FC236}">
                <a16:creationId xmlns:a16="http://schemas.microsoft.com/office/drawing/2014/main" xmlns="" id="{EDC868DF-FFCA-CB87-D57D-B5667EAE6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120" y="4080647"/>
            <a:ext cx="2014306" cy="2014306"/>
          </a:xfrm>
          <a:prstGeom prst="rect">
            <a:avLst/>
          </a:prstGeom>
        </p:spPr>
      </p:pic>
      <p:sp>
        <p:nvSpPr>
          <p:cNvPr id="13" name="TextBox 12">
            <a:extLst>
              <a:ext uri="{FF2B5EF4-FFF2-40B4-BE49-F238E27FC236}">
                <a16:creationId xmlns:a16="http://schemas.microsoft.com/office/drawing/2014/main" xmlns="" id="{A97BCB05-FAC9-C057-21C0-74DD156B03D5}"/>
              </a:ext>
            </a:extLst>
          </p:cNvPr>
          <p:cNvSpPr txBox="1"/>
          <p:nvPr/>
        </p:nvSpPr>
        <p:spPr>
          <a:xfrm>
            <a:off x="1664581" y="6094953"/>
            <a:ext cx="3675045"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DWT fused image for input data set 2</a:t>
            </a:r>
            <a:endParaRPr lang="en-IN"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xmlns="" id="{85433B47-9834-AF5E-73E9-830969C26D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6034" y="1015332"/>
            <a:ext cx="2176206" cy="2121672"/>
          </a:xfrm>
          <a:prstGeom prst="rect">
            <a:avLst/>
          </a:prstGeom>
        </p:spPr>
      </p:pic>
      <p:sp>
        <p:nvSpPr>
          <p:cNvPr id="16" name="TextBox 15">
            <a:extLst>
              <a:ext uri="{FF2B5EF4-FFF2-40B4-BE49-F238E27FC236}">
                <a16:creationId xmlns:a16="http://schemas.microsoft.com/office/drawing/2014/main" xmlns="" id="{761EC66E-8706-3D3E-67A1-34BC6A9E3261}"/>
              </a:ext>
            </a:extLst>
          </p:cNvPr>
          <p:cNvSpPr txBox="1"/>
          <p:nvPr/>
        </p:nvSpPr>
        <p:spPr>
          <a:xfrm>
            <a:off x="7303998" y="3124601"/>
            <a:ext cx="382027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MSVD fused image for input data set 1</a:t>
            </a:r>
            <a:endParaRPr lang="en-IN"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xmlns="" id="{9C757708-3508-9AC7-EE49-AAE18DEB80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8808" y="4080647"/>
            <a:ext cx="2121672" cy="1984221"/>
          </a:xfrm>
          <a:prstGeom prst="rect">
            <a:avLst/>
          </a:prstGeom>
        </p:spPr>
      </p:pic>
      <p:sp>
        <p:nvSpPr>
          <p:cNvPr id="21" name="TextBox 20">
            <a:extLst>
              <a:ext uri="{FF2B5EF4-FFF2-40B4-BE49-F238E27FC236}">
                <a16:creationId xmlns:a16="http://schemas.microsoft.com/office/drawing/2014/main" xmlns="" id="{B6F1E838-7860-5EBE-A736-3DA406956344}"/>
              </a:ext>
            </a:extLst>
          </p:cNvPr>
          <p:cNvSpPr txBox="1"/>
          <p:nvPr/>
        </p:nvSpPr>
        <p:spPr>
          <a:xfrm>
            <a:off x="1832846" y="3124601"/>
            <a:ext cx="3732753"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DWT fused image for input data set 1</a:t>
            </a:r>
            <a:r>
              <a:rPr lang="en-IN" sz="1800" dirty="0">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2688610720"/>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40311A-794A-0A1D-024E-1E323CA19D41}"/>
              </a:ext>
            </a:extLst>
          </p:cNvPr>
          <p:cNvSpPr>
            <a:spLocks noGrp="1"/>
          </p:cNvSpPr>
          <p:nvPr>
            <p:ph type="title"/>
          </p:nvPr>
        </p:nvSpPr>
        <p:spPr>
          <a:xfrm>
            <a:off x="454741" y="365125"/>
            <a:ext cx="10515600" cy="1325563"/>
          </a:xfrm>
        </p:spPr>
        <p:txBody>
          <a:bodyPr/>
          <a:lstStyle/>
          <a:p>
            <a:pPr algn="ctr"/>
            <a:r>
              <a:rPr lang="en-IN" sz="3600" b="1" dirty="0">
                <a:latin typeface="Times New Roman" panose="02020603050405020304" pitchFamily="18" charset="0"/>
                <a:cs typeface="Times New Roman" panose="02020603050405020304" pitchFamily="18" charset="0"/>
              </a:rPr>
              <a:t>STATISTICAL ANALYSIS </a:t>
            </a:r>
            <a:r>
              <a:rPr lang="en-US" sz="4400" dirty="0">
                <a:latin typeface="Times New Roman" panose="02020603050405020304" pitchFamily="18" charset="0"/>
                <a:cs typeface="Times New Roman" panose="02020603050405020304" pitchFamily="18" charset="0"/>
              </a:rPr>
              <a:t/>
            </a:r>
            <a:br>
              <a:rPr lang="en-US" sz="4400" dirty="0">
                <a:latin typeface="Times New Roman" panose="02020603050405020304" pitchFamily="18" charset="0"/>
                <a:cs typeface="Times New Roman" panose="02020603050405020304" pitchFamily="18" charset="0"/>
              </a:rPr>
            </a:br>
            <a:endParaRPr lang="en-IN" dirty="0"/>
          </a:p>
        </p:txBody>
      </p:sp>
      <p:cxnSp>
        <p:nvCxnSpPr>
          <p:cNvPr id="35" name="Straight Connector 34">
            <a:extLst>
              <a:ext uri="{FF2B5EF4-FFF2-40B4-BE49-F238E27FC236}">
                <a16:creationId xmlns:a16="http://schemas.microsoft.com/office/drawing/2014/main" xmlns="" id="{902A56B3-A8BB-68D6-C37E-661B8AFF6D98}"/>
              </a:ext>
            </a:extLst>
          </p:cNvPr>
          <p:cNvCxnSpPr>
            <a:cxnSpLocks/>
          </p:cNvCxnSpPr>
          <p:nvPr/>
        </p:nvCxnSpPr>
        <p:spPr>
          <a:xfrm>
            <a:off x="1750142" y="1170039"/>
            <a:ext cx="0" cy="5545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xmlns="" id="{9B8BE751-5AA1-8CD4-2736-165AA6B53035}"/>
              </a:ext>
            </a:extLst>
          </p:cNvPr>
          <p:cNvCxnSpPr/>
          <p:nvPr/>
        </p:nvCxnSpPr>
        <p:spPr>
          <a:xfrm>
            <a:off x="1750142" y="1170039"/>
            <a:ext cx="79346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30C976A2-D483-CB87-A842-7A0D19420E98}"/>
              </a:ext>
            </a:extLst>
          </p:cNvPr>
          <p:cNvCxnSpPr/>
          <p:nvPr/>
        </p:nvCxnSpPr>
        <p:spPr>
          <a:xfrm>
            <a:off x="9694606" y="1170039"/>
            <a:ext cx="0" cy="5545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xmlns="" id="{4428CC02-A86A-7929-7A5E-5C21ACC32BE3}"/>
              </a:ext>
            </a:extLst>
          </p:cNvPr>
          <p:cNvCxnSpPr/>
          <p:nvPr/>
        </p:nvCxnSpPr>
        <p:spPr>
          <a:xfrm>
            <a:off x="1750142" y="1838632"/>
            <a:ext cx="79346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BE897973-74CA-7F64-2766-37C607E9BF88}"/>
              </a:ext>
            </a:extLst>
          </p:cNvPr>
          <p:cNvCxnSpPr/>
          <p:nvPr/>
        </p:nvCxnSpPr>
        <p:spPr>
          <a:xfrm>
            <a:off x="4119716" y="1170039"/>
            <a:ext cx="0" cy="5456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C9E92BE8-B034-2502-404C-F4078EE93752}"/>
              </a:ext>
            </a:extLst>
          </p:cNvPr>
          <p:cNvCxnSpPr/>
          <p:nvPr/>
        </p:nvCxnSpPr>
        <p:spPr>
          <a:xfrm>
            <a:off x="6341807" y="1170039"/>
            <a:ext cx="0" cy="5388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58067674-98FA-4120-DBB6-053D395F7B0C}"/>
              </a:ext>
            </a:extLst>
          </p:cNvPr>
          <p:cNvCxnSpPr/>
          <p:nvPr/>
        </p:nvCxnSpPr>
        <p:spPr>
          <a:xfrm>
            <a:off x="8042787" y="1170039"/>
            <a:ext cx="0" cy="538807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xmlns="" id="{A2EC1445-08E0-043D-A2C1-4826E349274E}"/>
              </a:ext>
            </a:extLst>
          </p:cNvPr>
          <p:cNvCxnSpPr/>
          <p:nvPr/>
        </p:nvCxnSpPr>
        <p:spPr>
          <a:xfrm>
            <a:off x="4119716" y="2241755"/>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xmlns="" id="{4B9CE6CD-075A-FC81-ED30-29099AC9EF4F}"/>
              </a:ext>
            </a:extLst>
          </p:cNvPr>
          <p:cNvCxnSpPr/>
          <p:nvPr/>
        </p:nvCxnSpPr>
        <p:spPr>
          <a:xfrm>
            <a:off x="4119716" y="2654710"/>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xmlns="" id="{F6ED6D5D-3D5F-5366-1FE1-F53C8B77B267}"/>
              </a:ext>
            </a:extLst>
          </p:cNvPr>
          <p:cNvCxnSpPr/>
          <p:nvPr/>
        </p:nvCxnSpPr>
        <p:spPr>
          <a:xfrm>
            <a:off x="4119716" y="3048000"/>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xmlns="" id="{239E4ECB-0558-7DB9-7469-8291070AB028}"/>
              </a:ext>
            </a:extLst>
          </p:cNvPr>
          <p:cNvCxnSpPr/>
          <p:nvPr/>
        </p:nvCxnSpPr>
        <p:spPr>
          <a:xfrm>
            <a:off x="4119716" y="3429000"/>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xmlns="" id="{DD36B0B1-0788-0245-FFBB-BC8F6E1C4215}"/>
              </a:ext>
            </a:extLst>
          </p:cNvPr>
          <p:cNvCxnSpPr/>
          <p:nvPr/>
        </p:nvCxnSpPr>
        <p:spPr>
          <a:xfrm>
            <a:off x="1759974" y="4198374"/>
            <a:ext cx="79346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xmlns="" id="{251BE1D9-9268-D9EA-3CD0-EE652F4F91E7}"/>
              </a:ext>
            </a:extLst>
          </p:cNvPr>
          <p:cNvCxnSpPr/>
          <p:nvPr/>
        </p:nvCxnSpPr>
        <p:spPr>
          <a:xfrm>
            <a:off x="4119716" y="4945626"/>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xmlns="" id="{8586ED41-F8C2-6DCC-E4E2-71109856AF7D}"/>
              </a:ext>
            </a:extLst>
          </p:cNvPr>
          <p:cNvCxnSpPr/>
          <p:nvPr/>
        </p:nvCxnSpPr>
        <p:spPr>
          <a:xfrm>
            <a:off x="4132556" y="5348748"/>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xmlns="" id="{4D6E9BD9-E9C1-B152-2C57-8BA82BC97D59}"/>
              </a:ext>
            </a:extLst>
          </p:cNvPr>
          <p:cNvCxnSpPr/>
          <p:nvPr/>
        </p:nvCxnSpPr>
        <p:spPr>
          <a:xfrm>
            <a:off x="4129548" y="5771536"/>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xmlns="" id="{0FA5F53F-8C91-6C48-A919-404B5C2B0A62}"/>
              </a:ext>
            </a:extLst>
          </p:cNvPr>
          <p:cNvCxnSpPr/>
          <p:nvPr/>
        </p:nvCxnSpPr>
        <p:spPr>
          <a:xfrm>
            <a:off x="4119716" y="6135330"/>
            <a:ext cx="5565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xmlns="" id="{C4CFAACC-B4AC-CC68-FC19-615F9370B81B}"/>
              </a:ext>
            </a:extLst>
          </p:cNvPr>
          <p:cNvCxnSpPr/>
          <p:nvPr/>
        </p:nvCxnSpPr>
        <p:spPr>
          <a:xfrm>
            <a:off x="1750142" y="6558116"/>
            <a:ext cx="7934632" cy="0"/>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xmlns="" id="{C391AB36-ADCC-3750-D41C-14DBFD7A079E}"/>
              </a:ext>
            </a:extLst>
          </p:cNvPr>
          <p:cNvSpPr txBox="1"/>
          <p:nvPr/>
        </p:nvSpPr>
        <p:spPr>
          <a:xfrm>
            <a:off x="2280800" y="1250844"/>
            <a:ext cx="1043876" cy="369332"/>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Data set </a:t>
            </a:r>
          </a:p>
        </p:txBody>
      </p:sp>
      <p:sp>
        <p:nvSpPr>
          <p:cNvPr id="84" name="TextBox 83">
            <a:extLst>
              <a:ext uri="{FF2B5EF4-FFF2-40B4-BE49-F238E27FC236}">
                <a16:creationId xmlns:a16="http://schemas.microsoft.com/office/drawing/2014/main" xmlns="" id="{02988040-28ED-714C-CA8B-214B560C4207}"/>
              </a:ext>
            </a:extLst>
          </p:cNvPr>
          <p:cNvSpPr txBox="1"/>
          <p:nvPr/>
        </p:nvSpPr>
        <p:spPr>
          <a:xfrm>
            <a:off x="4538293" y="1277572"/>
            <a:ext cx="941283" cy="369332"/>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Metrics</a:t>
            </a:r>
          </a:p>
        </p:txBody>
      </p:sp>
      <p:sp>
        <p:nvSpPr>
          <p:cNvPr id="85" name="TextBox 84">
            <a:extLst>
              <a:ext uri="{FF2B5EF4-FFF2-40B4-BE49-F238E27FC236}">
                <a16:creationId xmlns:a16="http://schemas.microsoft.com/office/drawing/2014/main" xmlns="" id="{08426998-666E-F55F-C056-BFADA7F3A0B7}"/>
              </a:ext>
            </a:extLst>
          </p:cNvPr>
          <p:cNvSpPr txBox="1"/>
          <p:nvPr/>
        </p:nvSpPr>
        <p:spPr>
          <a:xfrm>
            <a:off x="6739443" y="1307691"/>
            <a:ext cx="736099" cy="369332"/>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DWT</a:t>
            </a:r>
          </a:p>
        </p:txBody>
      </p:sp>
      <p:sp>
        <p:nvSpPr>
          <p:cNvPr id="86" name="TextBox 85">
            <a:extLst>
              <a:ext uri="{FF2B5EF4-FFF2-40B4-BE49-F238E27FC236}">
                <a16:creationId xmlns:a16="http://schemas.microsoft.com/office/drawing/2014/main" xmlns="" id="{04C19497-5DD9-FDC1-968D-54BD4A403939}"/>
              </a:ext>
            </a:extLst>
          </p:cNvPr>
          <p:cNvSpPr txBox="1"/>
          <p:nvPr/>
        </p:nvSpPr>
        <p:spPr>
          <a:xfrm>
            <a:off x="8320244" y="1294467"/>
            <a:ext cx="981063"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MSVD</a:t>
            </a:r>
          </a:p>
        </p:txBody>
      </p:sp>
      <p:sp>
        <p:nvSpPr>
          <p:cNvPr id="87" name="TextBox 86">
            <a:extLst>
              <a:ext uri="{FF2B5EF4-FFF2-40B4-BE49-F238E27FC236}">
                <a16:creationId xmlns:a16="http://schemas.microsoft.com/office/drawing/2014/main" xmlns="" id="{1E7012F0-0509-F56D-8939-A598701A9285}"/>
              </a:ext>
            </a:extLst>
          </p:cNvPr>
          <p:cNvSpPr txBox="1"/>
          <p:nvPr/>
        </p:nvSpPr>
        <p:spPr>
          <a:xfrm>
            <a:off x="2072298" y="2627687"/>
            <a:ext cx="1505540" cy="646331"/>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Image Set 1 </a:t>
            </a:r>
          </a:p>
          <a:p>
            <a:pPr algn="ctr"/>
            <a:r>
              <a:rPr lang="en-IN" b="1" dirty="0">
                <a:latin typeface="Times New Roman" panose="02020603050405020304" pitchFamily="18" charset="0"/>
                <a:cs typeface="Times New Roman" panose="02020603050405020304" pitchFamily="18" charset="0"/>
              </a:rPr>
              <a:t>Glioblastoma</a:t>
            </a:r>
          </a:p>
        </p:txBody>
      </p:sp>
      <p:sp>
        <p:nvSpPr>
          <p:cNvPr id="88" name="TextBox 87">
            <a:extLst>
              <a:ext uri="{FF2B5EF4-FFF2-40B4-BE49-F238E27FC236}">
                <a16:creationId xmlns:a16="http://schemas.microsoft.com/office/drawing/2014/main" xmlns="" id="{10C19746-7641-C2EE-7FF6-EA14D16FE66E}"/>
              </a:ext>
            </a:extLst>
          </p:cNvPr>
          <p:cNvSpPr txBox="1"/>
          <p:nvPr/>
        </p:nvSpPr>
        <p:spPr>
          <a:xfrm>
            <a:off x="2212259" y="4599349"/>
            <a:ext cx="1505540" cy="923330"/>
          </a:xfrm>
          <a:prstGeom prst="rect">
            <a:avLst/>
          </a:prstGeom>
          <a:noFill/>
        </p:spPr>
        <p:txBody>
          <a:bodyPr wrap="none" rtlCol="0">
            <a:spAutoFit/>
          </a:bodyPr>
          <a:lstStyle/>
          <a:p>
            <a:pPr algn="ctr"/>
            <a:r>
              <a:rPr lang="en-IN" b="1" dirty="0">
                <a:latin typeface="Times New Roman" panose="02020603050405020304" pitchFamily="18" charset="0"/>
                <a:cs typeface="Times New Roman" panose="02020603050405020304" pitchFamily="18" charset="0"/>
              </a:rPr>
              <a:t>Image Set 2 </a:t>
            </a:r>
          </a:p>
          <a:p>
            <a:pPr algn="ctr"/>
            <a:r>
              <a:rPr lang="en-IN" b="1" dirty="0">
                <a:latin typeface="Times New Roman" panose="02020603050405020304" pitchFamily="18" charset="0"/>
                <a:cs typeface="Times New Roman" panose="02020603050405020304" pitchFamily="18" charset="0"/>
              </a:rPr>
              <a:t>Meningioma</a:t>
            </a:r>
          </a:p>
          <a:p>
            <a:endParaRPr lang="en-IN" dirty="0"/>
          </a:p>
        </p:txBody>
      </p:sp>
      <p:sp>
        <p:nvSpPr>
          <p:cNvPr id="89" name="TextBox 88">
            <a:extLst>
              <a:ext uri="{FF2B5EF4-FFF2-40B4-BE49-F238E27FC236}">
                <a16:creationId xmlns:a16="http://schemas.microsoft.com/office/drawing/2014/main" xmlns="" id="{3501533E-7811-C975-B56E-533B588ECB09}"/>
              </a:ext>
            </a:extLst>
          </p:cNvPr>
          <p:cNvSpPr txBox="1"/>
          <p:nvPr/>
        </p:nvSpPr>
        <p:spPr>
          <a:xfrm>
            <a:off x="4129548" y="1907458"/>
            <a:ext cx="1350027"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Mean</a:t>
            </a:r>
          </a:p>
        </p:txBody>
      </p:sp>
      <p:sp>
        <p:nvSpPr>
          <p:cNvPr id="90" name="TextBox 89">
            <a:extLst>
              <a:ext uri="{FF2B5EF4-FFF2-40B4-BE49-F238E27FC236}">
                <a16:creationId xmlns:a16="http://schemas.microsoft.com/office/drawing/2014/main" xmlns="" id="{A73A7B29-3D15-9861-4079-28C8A747F9DB}"/>
              </a:ext>
            </a:extLst>
          </p:cNvPr>
          <p:cNvSpPr txBox="1"/>
          <p:nvPr/>
        </p:nvSpPr>
        <p:spPr>
          <a:xfrm>
            <a:off x="4445787" y="2288769"/>
            <a:ext cx="142407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Entropy</a:t>
            </a:r>
          </a:p>
        </p:txBody>
      </p:sp>
      <p:sp>
        <p:nvSpPr>
          <p:cNvPr id="91" name="TextBox 90">
            <a:extLst>
              <a:ext uri="{FF2B5EF4-FFF2-40B4-BE49-F238E27FC236}">
                <a16:creationId xmlns:a16="http://schemas.microsoft.com/office/drawing/2014/main" xmlns="" id="{A87A2E2B-3CC5-9F25-151A-CE7AC429C18B}"/>
              </a:ext>
            </a:extLst>
          </p:cNvPr>
          <p:cNvSpPr txBox="1"/>
          <p:nvPr/>
        </p:nvSpPr>
        <p:spPr>
          <a:xfrm>
            <a:off x="4129547" y="2663299"/>
            <a:ext cx="2546556" cy="369332"/>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Standard Deviation</a:t>
            </a:r>
          </a:p>
        </p:txBody>
      </p:sp>
      <p:cxnSp>
        <p:nvCxnSpPr>
          <p:cNvPr id="93" name="Straight Connector 92">
            <a:extLst>
              <a:ext uri="{FF2B5EF4-FFF2-40B4-BE49-F238E27FC236}">
                <a16:creationId xmlns:a16="http://schemas.microsoft.com/office/drawing/2014/main" xmlns="" id="{E391424E-550E-AD45-508A-B073FF89D0E7}"/>
              </a:ext>
            </a:extLst>
          </p:cNvPr>
          <p:cNvCxnSpPr/>
          <p:nvPr/>
        </p:nvCxnSpPr>
        <p:spPr>
          <a:xfrm>
            <a:off x="4129548" y="3795252"/>
            <a:ext cx="55552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xmlns="" id="{3ADD31C4-867F-C82B-ACF0-03EA4755C5F2}"/>
              </a:ext>
            </a:extLst>
          </p:cNvPr>
          <p:cNvCxnSpPr/>
          <p:nvPr/>
        </p:nvCxnSpPr>
        <p:spPr>
          <a:xfrm>
            <a:off x="4119716" y="4599349"/>
            <a:ext cx="5565058" cy="0"/>
          </a:xfrm>
          <a:prstGeom prst="line">
            <a:avLst/>
          </a:prstGeom>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xmlns="" id="{7F7E7F57-0E1D-53F8-91A1-DFAE54614F5B}"/>
              </a:ext>
            </a:extLst>
          </p:cNvPr>
          <p:cNvSpPr txBox="1"/>
          <p:nvPr/>
        </p:nvSpPr>
        <p:spPr>
          <a:xfrm>
            <a:off x="4431764" y="3027885"/>
            <a:ext cx="492443"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Ma</a:t>
            </a:r>
          </a:p>
        </p:txBody>
      </p:sp>
      <p:sp>
        <p:nvSpPr>
          <p:cNvPr id="99" name="TextBox 98">
            <a:extLst>
              <a:ext uri="{FF2B5EF4-FFF2-40B4-BE49-F238E27FC236}">
                <a16:creationId xmlns:a16="http://schemas.microsoft.com/office/drawing/2014/main" xmlns="" id="{8F88C97B-00C4-93D6-6D62-B426A9E95963}"/>
              </a:ext>
            </a:extLst>
          </p:cNvPr>
          <p:cNvSpPr txBox="1"/>
          <p:nvPr/>
        </p:nvSpPr>
        <p:spPr>
          <a:xfrm>
            <a:off x="4447382" y="3402102"/>
            <a:ext cx="50366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Mb</a:t>
            </a:r>
          </a:p>
        </p:txBody>
      </p:sp>
      <p:sp>
        <p:nvSpPr>
          <p:cNvPr id="100" name="TextBox 99">
            <a:extLst>
              <a:ext uri="{FF2B5EF4-FFF2-40B4-BE49-F238E27FC236}">
                <a16:creationId xmlns:a16="http://schemas.microsoft.com/office/drawing/2014/main" xmlns="" id="{F86ACEB9-A31B-4491-C69C-957CA5DAC93E}"/>
              </a:ext>
            </a:extLst>
          </p:cNvPr>
          <p:cNvSpPr txBox="1"/>
          <p:nvPr/>
        </p:nvSpPr>
        <p:spPr>
          <a:xfrm>
            <a:off x="4433440" y="3814916"/>
            <a:ext cx="1460657"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Fusion Factor</a:t>
            </a:r>
          </a:p>
        </p:txBody>
      </p:sp>
      <p:sp>
        <p:nvSpPr>
          <p:cNvPr id="102" name="TextBox 101">
            <a:extLst>
              <a:ext uri="{FF2B5EF4-FFF2-40B4-BE49-F238E27FC236}">
                <a16:creationId xmlns:a16="http://schemas.microsoft.com/office/drawing/2014/main" xmlns="" id="{D29B2479-0474-1B71-9AB8-C8D6E5E1EEF2}"/>
              </a:ext>
            </a:extLst>
          </p:cNvPr>
          <p:cNvSpPr txBox="1"/>
          <p:nvPr/>
        </p:nvSpPr>
        <p:spPr>
          <a:xfrm>
            <a:off x="3910233" y="4161192"/>
            <a:ext cx="1817632"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Mean</a:t>
            </a:r>
          </a:p>
        </p:txBody>
      </p:sp>
      <p:sp>
        <p:nvSpPr>
          <p:cNvPr id="103" name="TextBox 102">
            <a:extLst>
              <a:ext uri="{FF2B5EF4-FFF2-40B4-BE49-F238E27FC236}">
                <a16:creationId xmlns:a16="http://schemas.microsoft.com/office/drawing/2014/main" xmlns="" id="{7A883716-0D6F-5DB3-2BEC-87487D5C4EB2}"/>
              </a:ext>
            </a:extLst>
          </p:cNvPr>
          <p:cNvSpPr txBox="1"/>
          <p:nvPr/>
        </p:nvSpPr>
        <p:spPr>
          <a:xfrm>
            <a:off x="4483513" y="4542501"/>
            <a:ext cx="928459"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Entropy</a:t>
            </a:r>
          </a:p>
        </p:txBody>
      </p:sp>
      <p:sp>
        <p:nvSpPr>
          <p:cNvPr id="104" name="TextBox 103">
            <a:extLst>
              <a:ext uri="{FF2B5EF4-FFF2-40B4-BE49-F238E27FC236}">
                <a16:creationId xmlns:a16="http://schemas.microsoft.com/office/drawing/2014/main" xmlns="" id="{1F565A52-ADAD-980D-3C54-CF07098B9C71}"/>
              </a:ext>
            </a:extLst>
          </p:cNvPr>
          <p:cNvSpPr txBox="1"/>
          <p:nvPr/>
        </p:nvSpPr>
        <p:spPr>
          <a:xfrm>
            <a:off x="4463840" y="5004618"/>
            <a:ext cx="1973617" cy="369332"/>
          </a:xfrm>
          <a:prstGeom prst="rect">
            <a:avLst/>
          </a:prstGeom>
          <a:noFill/>
        </p:spPr>
        <p:txBody>
          <a:bodyPr wrap="none" rtlCol="0">
            <a:spAutoFit/>
          </a:bodyPr>
          <a:lstStyle/>
          <a:p>
            <a:r>
              <a:rPr lang="en-IN" sz="1800" dirty="0">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tanda</a:t>
            </a:r>
            <a:r>
              <a:rPr lang="en-IN" sz="1800" dirty="0">
                <a:latin typeface="Times New Roman" panose="02020603050405020304" pitchFamily="18" charset="0"/>
                <a:cs typeface="Times New Roman" panose="02020603050405020304" pitchFamily="18" charset="0"/>
              </a:rPr>
              <a:t>rd Deviation</a:t>
            </a:r>
            <a:endParaRPr lang="en-IN" dirty="0"/>
          </a:p>
        </p:txBody>
      </p:sp>
      <p:sp>
        <p:nvSpPr>
          <p:cNvPr id="105" name="TextBox 104">
            <a:extLst>
              <a:ext uri="{FF2B5EF4-FFF2-40B4-BE49-F238E27FC236}">
                <a16:creationId xmlns:a16="http://schemas.microsoft.com/office/drawing/2014/main" xmlns="" id="{D5C16873-DB4D-122E-7AE9-F7BA9A06C53A}"/>
              </a:ext>
            </a:extLst>
          </p:cNvPr>
          <p:cNvSpPr txBox="1"/>
          <p:nvPr/>
        </p:nvSpPr>
        <p:spPr>
          <a:xfrm>
            <a:off x="4513016" y="5387286"/>
            <a:ext cx="492443"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Ma</a:t>
            </a:r>
          </a:p>
        </p:txBody>
      </p:sp>
      <p:sp>
        <p:nvSpPr>
          <p:cNvPr id="106" name="TextBox 105">
            <a:extLst>
              <a:ext uri="{FF2B5EF4-FFF2-40B4-BE49-F238E27FC236}">
                <a16:creationId xmlns:a16="http://schemas.microsoft.com/office/drawing/2014/main" xmlns="" id="{C1E524C4-BF93-F0A7-5DAE-AD0C4EDC3BB6}"/>
              </a:ext>
            </a:extLst>
          </p:cNvPr>
          <p:cNvSpPr txBox="1"/>
          <p:nvPr/>
        </p:nvSpPr>
        <p:spPr>
          <a:xfrm>
            <a:off x="4549620" y="5750184"/>
            <a:ext cx="503664"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Mb</a:t>
            </a:r>
          </a:p>
        </p:txBody>
      </p:sp>
      <p:sp>
        <p:nvSpPr>
          <p:cNvPr id="107" name="TextBox 106">
            <a:extLst>
              <a:ext uri="{FF2B5EF4-FFF2-40B4-BE49-F238E27FC236}">
                <a16:creationId xmlns:a16="http://schemas.microsoft.com/office/drawing/2014/main" xmlns="" id="{22366FFC-8B26-B078-F8FB-1251DDA41DD8}"/>
              </a:ext>
            </a:extLst>
          </p:cNvPr>
          <p:cNvSpPr txBox="1"/>
          <p:nvPr/>
        </p:nvSpPr>
        <p:spPr>
          <a:xfrm>
            <a:off x="4561565" y="6115662"/>
            <a:ext cx="146065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Fusion Factor</a:t>
            </a:r>
          </a:p>
        </p:txBody>
      </p:sp>
      <p:sp>
        <p:nvSpPr>
          <p:cNvPr id="108" name="TextBox 107">
            <a:extLst>
              <a:ext uri="{FF2B5EF4-FFF2-40B4-BE49-F238E27FC236}">
                <a16:creationId xmlns:a16="http://schemas.microsoft.com/office/drawing/2014/main" xmlns="" id="{70D16897-A9ED-E00B-392C-986F86F8A843}"/>
              </a:ext>
            </a:extLst>
          </p:cNvPr>
          <p:cNvSpPr txBox="1"/>
          <p:nvPr/>
        </p:nvSpPr>
        <p:spPr>
          <a:xfrm>
            <a:off x="6715621" y="4115536"/>
            <a:ext cx="1231517" cy="2542363"/>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14.6858</a:t>
            </a:r>
          </a:p>
          <a:p>
            <a:pPr>
              <a:lnSpc>
                <a:spcPct val="150000"/>
              </a:lnSpc>
            </a:pPr>
            <a:r>
              <a:rPr lang="en-IN" dirty="0">
                <a:latin typeface="Times New Roman" panose="02020603050405020304" pitchFamily="18" charset="0"/>
                <a:cs typeface="Times New Roman" panose="02020603050405020304" pitchFamily="18" charset="0"/>
              </a:rPr>
              <a:t>6.0201</a:t>
            </a:r>
          </a:p>
          <a:p>
            <a:pPr>
              <a:lnSpc>
                <a:spcPct val="150000"/>
              </a:lnSpc>
            </a:pPr>
            <a:r>
              <a:rPr lang="en-IN" dirty="0">
                <a:latin typeface="Times New Roman" panose="02020603050405020304" pitchFamily="18" charset="0"/>
                <a:cs typeface="Times New Roman" panose="02020603050405020304" pitchFamily="18" charset="0"/>
              </a:rPr>
              <a:t>0.3637</a:t>
            </a:r>
          </a:p>
          <a:p>
            <a:pPr>
              <a:lnSpc>
                <a:spcPct val="150000"/>
              </a:lnSpc>
            </a:pPr>
            <a:r>
              <a:rPr lang="en-IN" dirty="0">
                <a:latin typeface="Times New Roman" panose="02020603050405020304" pitchFamily="18" charset="0"/>
                <a:cs typeface="Times New Roman" panose="02020603050405020304" pitchFamily="18" charset="0"/>
              </a:rPr>
              <a:t>0.1626</a:t>
            </a:r>
          </a:p>
          <a:p>
            <a:pPr>
              <a:lnSpc>
                <a:spcPct val="150000"/>
              </a:lnSpc>
            </a:pPr>
            <a:r>
              <a:rPr lang="en-IN" dirty="0">
                <a:latin typeface="Times New Roman" panose="02020603050405020304" pitchFamily="18" charset="0"/>
                <a:cs typeface="Times New Roman" panose="02020603050405020304" pitchFamily="18" charset="0"/>
              </a:rPr>
              <a:t>0.3544</a:t>
            </a:r>
          </a:p>
          <a:p>
            <a:pPr>
              <a:lnSpc>
                <a:spcPct val="150000"/>
              </a:lnSpc>
            </a:pPr>
            <a:r>
              <a:rPr lang="en-IN" dirty="0">
                <a:latin typeface="Times New Roman" panose="02020603050405020304" pitchFamily="18" charset="0"/>
                <a:cs typeface="Times New Roman" panose="02020603050405020304" pitchFamily="18" charset="0"/>
              </a:rPr>
              <a:t>0.8170</a:t>
            </a:r>
          </a:p>
        </p:txBody>
      </p:sp>
      <p:sp>
        <p:nvSpPr>
          <p:cNvPr id="109" name="TextBox 108">
            <a:extLst>
              <a:ext uri="{FF2B5EF4-FFF2-40B4-BE49-F238E27FC236}">
                <a16:creationId xmlns:a16="http://schemas.microsoft.com/office/drawing/2014/main" xmlns="" id="{6513B653-A157-A5BA-3D96-65041B17D77F}"/>
              </a:ext>
            </a:extLst>
          </p:cNvPr>
          <p:cNvSpPr txBox="1"/>
          <p:nvPr/>
        </p:nvSpPr>
        <p:spPr>
          <a:xfrm>
            <a:off x="8416413" y="4117564"/>
            <a:ext cx="934871" cy="2535566"/>
          </a:xfrm>
          <a:prstGeom prst="rect">
            <a:avLst/>
          </a:prstGeom>
          <a:noFill/>
        </p:spPr>
        <p:txBody>
          <a:bodyPr wrap="none" rtlCol="0">
            <a:spAutoFit/>
          </a:bodyPr>
          <a:lstStyle/>
          <a:p>
            <a:pPr>
              <a:lnSpc>
                <a:spcPct val="150000"/>
              </a:lnSpc>
            </a:pPr>
            <a:r>
              <a:rPr lang="en-IN" dirty="0">
                <a:latin typeface="Times New Roman" panose="02020603050405020304" pitchFamily="18" charset="0"/>
                <a:cs typeface="Times New Roman" panose="02020603050405020304" pitchFamily="18" charset="0"/>
              </a:rPr>
              <a:t>14.0001</a:t>
            </a:r>
          </a:p>
          <a:p>
            <a:pPr>
              <a:lnSpc>
                <a:spcPct val="150000"/>
              </a:lnSpc>
            </a:pPr>
            <a:r>
              <a:rPr lang="en-IN" dirty="0">
                <a:latin typeface="Times New Roman" panose="02020603050405020304" pitchFamily="18" charset="0"/>
                <a:cs typeface="Times New Roman" panose="02020603050405020304" pitchFamily="18" charset="0"/>
              </a:rPr>
              <a:t>5.9980</a:t>
            </a:r>
          </a:p>
          <a:p>
            <a:pPr>
              <a:lnSpc>
                <a:spcPct val="150000"/>
              </a:lnSpc>
            </a:pPr>
            <a:r>
              <a:rPr lang="en-IN" dirty="0">
                <a:latin typeface="Times New Roman" panose="02020603050405020304" pitchFamily="18" charset="0"/>
                <a:cs typeface="Times New Roman" panose="02020603050405020304" pitchFamily="18" charset="0"/>
              </a:rPr>
              <a:t>0.612</a:t>
            </a:r>
          </a:p>
          <a:p>
            <a:pPr>
              <a:lnSpc>
                <a:spcPct val="150000"/>
              </a:lnSpc>
            </a:pPr>
            <a:r>
              <a:rPr lang="en-IN" dirty="0">
                <a:latin typeface="Times New Roman" panose="02020603050405020304" pitchFamily="18" charset="0"/>
                <a:cs typeface="Times New Roman" panose="02020603050405020304" pitchFamily="18" charset="0"/>
              </a:rPr>
              <a:t>0.590</a:t>
            </a:r>
          </a:p>
          <a:p>
            <a:pPr>
              <a:lnSpc>
                <a:spcPct val="150000"/>
              </a:lnSpc>
            </a:pPr>
            <a:r>
              <a:rPr lang="en-IN" dirty="0">
                <a:latin typeface="Times New Roman" panose="02020603050405020304" pitchFamily="18" charset="0"/>
                <a:cs typeface="Times New Roman" panose="02020603050405020304" pitchFamily="18" charset="0"/>
              </a:rPr>
              <a:t>0.178</a:t>
            </a:r>
          </a:p>
          <a:p>
            <a:pPr>
              <a:lnSpc>
                <a:spcPct val="150000"/>
              </a:lnSpc>
            </a:pPr>
            <a:r>
              <a:rPr lang="en-IN" dirty="0">
                <a:latin typeface="Times New Roman" panose="02020603050405020304" pitchFamily="18" charset="0"/>
                <a:cs typeface="Times New Roman" panose="02020603050405020304" pitchFamily="18" charset="0"/>
              </a:rPr>
              <a:t>0.510</a:t>
            </a:r>
          </a:p>
        </p:txBody>
      </p:sp>
      <p:sp>
        <p:nvSpPr>
          <p:cNvPr id="110" name="TextBox 109">
            <a:extLst>
              <a:ext uri="{FF2B5EF4-FFF2-40B4-BE49-F238E27FC236}">
                <a16:creationId xmlns:a16="http://schemas.microsoft.com/office/drawing/2014/main" xmlns="" id="{F6128A4A-E072-8C32-9D34-77A0C8B55A36}"/>
              </a:ext>
            </a:extLst>
          </p:cNvPr>
          <p:cNvSpPr txBox="1"/>
          <p:nvPr/>
        </p:nvSpPr>
        <p:spPr>
          <a:xfrm>
            <a:off x="6725263" y="1720648"/>
            <a:ext cx="934871" cy="2535566"/>
          </a:xfrm>
          <a:prstGeom prst="rect">
            <a:avLst/>
          </a:prstGeom>
          <a:noFill/>
        </p:spPr>
        <p:txBody>
          <a:bodyPr wrap="none" rtlCol="0">
            <a:spAutoFit/>
          </a:bodyPr>
          <a:lstStyle/>
          <a:p>
            <a:pPr>
              <a:lnSpc>
                <a:spcPct val="150000"/>
              </a:lnSpc>
            </a:pPr>
            <a:r>
              <a:rPr lang="en-IN" dirty="0">
                <a:latin typeface="Times New Roman" panose="02020603050405020304" pitchFamily="18" charset="0"/>
                <a:cs typeface="Times New Roman" panose="02020603050405020304" pitchFamily="18" charset="0"/>
              </a:rPr>
              <a:t>16.9403</a:t>
            </a:r>
          </a:p>
          <a:p>
            <a:pPr>
              <a:lnSpc>
                <a:spcPct val="150000"/>
              </a:lnSpc>
            </a:pPr>
            <a:r>
              <a:rPr lang="en-IN" dirty="0">
                <a:latin typeface="Times New Roman" panose="02020603050405020304" pitchFamily="18" charset="0"/>
                <a:cs typeface="Times New Roman" panose="02020603050405020304" pitchFamily="18" charset="0"/>
              </a:rPr>
              <a:t> 5.5907</a:t>
            </a:r>
          </a:p>
          <a:p>
            <a:pPr>
              <a:lnSpc>
                <a:spcPct val="150000"/>
              </a:lnSpc>
            </a:pPr>
            <a:r>
              <a:rPr lang="en-IN" dirty="0">
                <a:latin typeface="Times New Roman" panose="02020603050405020304" pitchFamily="18" charset="0"/>
                <a:cs typeface="Times New Roman" panose="02020603050405020304" pitchFamily="18" charset="0"/>
              </a:rPr>
              <a:t>5.5907</a:t>
            </a:r>
          </a:p>
          <a:p>
            <a:pPr>
              <a:lnSpc>
                <a:spcPct val="150000"/>
              </a:lnSpc>
            </a:pPr>
            <a:r>
              <a:rPr lang="en-IN" dirty="0">
                <a:latin typeface="Times New Roman" panose="02020603050405020304" pitchFamily="18" charset="0"/>
                <a:cs typeface="Times New Roman" panose="02020603050405020304" pitchFamily="18" charset="0"/>
              </a:rPr>
              <a:t>0.4190</a:t>
            </a:r>
          </a:p>
          <a:p>
            <a:pPr>
              <a:lnSpc>
                <a:spcPct val="150000"/>
              </a:lnSpc>
            </a:pPr>
            <a:r>
              <a:rPr lang="en-IN" dirty="0">
                <a:latin typeface="Times New Roman" panose="02020603050405020304" pitchFamily="18" charset="0"/>
                <a:cs typeface="Times New Roman" panose="02020603050405020304" pitchFamily="18" charset="0"/>
              </a:rPr>
              <a:t>0.3647</a:t>
            </a:r>
          </a:p>
          <a:p>
            <a:pPr>
              <a:lnSpc>
                <a:spcPct val="150000"/>
              </a:lnSpc>
            </a:pPr>
            <a:r>
              <a:rPr lang="en-IN" dirty="0">
                <a:latin typeface="Times New Roman" panose="02020603050405020304" pitchFamily="18" charset="0"/>
                <a:cs typeface="Times New Roman" panose="02020603050405020304" pitchFamily="18" charset="0"/>
              </a:rPr>
              <a:t>0.720</a:t>
            </a:r>
          </a:p>
        </p:txBody>
      </p:sp>
      <p:sp>
        <p:nvSpPr>
          <p:cNvPr id="111" name="TextBox 110">
            <a:extLst>
              <a:ext uri="{FF2B5EF4-FFF2-40B4-BE49-F238E27FC236}">
                <a16:creationId xmlns:a16="http://schemas.microsoft.com/office/drawing/2014/main" xmlns="" id="{7B1EAE88-A493-A8A2-5E59-4DA024E37B0E}"/>
              </a:ext>
            </a:extLst>
          </p:cNvPr>
          <p:cNvSpPr txBox="1"/>
          <p:nvPr/>
        </p:nvSpPr>
        <p:spPr>
          <a:xfrm>
            <a:off x="8436080" y="1747990"/>
            <a:ext cx="934871" cy="2535566"/>
          </a:xfrm>
          <a:prstGeom prst="rect">
            <a:avLst/>
          </a:prstGeom>
          <a:noFill/>
        </p:spPr>
        <p:txBody>
          <a:bodyPr wrap="none" rtlCol="0">
            <a:spAutoFit/>
          </a:bodyPr>
          <a:lstStyle/>
          <a:p>
            <a:pPr>
              <a:lnSpc>
                <a:spcPct val="150000"/>
              </a:lnSpc>
            </a:pPr>
            <a:r>
              <a:rPr lang="en-IN" dirty="0">
                <a:latin typeface="Times New Roman" panose="02020603050405020304" pitchFamily="18" charset="0"/>
                <a:cs typeface="Times New Roman" panose="02020603050405020304" pitchFamily="18" charset="0"/>
              </a:rPr>
              <a:t>15.0901</a:t>
            </a:r>
          </a:p>
          <a:p>
            <a:pPr>
              <a:lnSpc>
                <a:spcPct val="150000"/>
              </a:lnSpc>
            </a:pPr>
            <a:r>
              <a:rPr lang="en-IN" dirty="0">
                <a:latin typeface="Times New Roman" panose="02020603050405020304" pitchFamily="18" charset="0"/>
                <a:cs typeface="Times New Roman" panose="02020603050405020304" pitchFamily="18" charset="0"/>
              </a:rPr>
              <a:t>5.0000</a:t>
            </a:r>
          </a:p>
          <a:p>
            <a:pPr>
              <a:lnSpc>
                <a:spcPct val="150000"/>
              </a:lnSpc>
            </a:pPr>
            <a:r>
              <a:rPr lang="en-IN" dirty="0">
                <a:latin typeface="Times New Roman" panose="02020603050405020304" pitchFamily="18" charset="0"/>
                <a:cs typeface="Times New Roman" panose="02020603050405020304" pitchFamily="18" charset="0"/>
              </a:rPr>
              <a:t>8.5608</a:t>
            </a:r>
          </a:p>
          <a:p>
            <a:pPr>
              <a:lnSpc>
                <a:spcPct val="150000"/>
              </a:lnSpc>
            </a:pPr>
            <a:r>
              <a:rPr lang="en-IN" dirty="0">
                <a:latin typeface="Times New Roman" panose="02020603050405020304" pitchFamily="18" charset="0"/>
                <a:cs typeface="Times New Roman" panose="02020603050405020304" pitchFamily="18" charset="0"/>
              </a:rPr>
              <a:t>0.5680</a:t>
            </a:r>
          </a:p>
          <a:p>
            <a:pPr>
              <a:lnSpc>
                <a:spcPct val="150000"/>
              </a:lnSpc>
            </a:pPr>
            <a:r>
              <a:rPr lang="en-IN" dirty="0">
                <a:latin typeface="Times New Roman" panose="02020603050405020304" pitchFamily="18" charset="0"/>
                <a:cs typeface="Times New Roman" panose="02020603050405020304" pitchFamily="18" charset="0"/>
              </a:rPr>
              <a:t>0.175</a:t>
            </a:r>
          </a:p>
          <a:p>
            <a:pPr>
              <a:lnSpc>
                <a:spcPct val="150000"/>
              </a:lnSpc>
            </a:pPr>
            <a:r>
              <a:rPr lang="en-IN" dirty="0">
                <a:latin typeface="Times New Roman" panose="02020603050405020304" pitchFamily="18" charset="0"/>
                <a:cs typeface="Times New Roman" panose="02020603050405020304" pitchFamily="18" charset="0"/>
              </a:rPr>
              <a:t>0.515</a:t>
            </a:r>
          </a:p>
        </p:txBody>
      </p:sp>
      <mc:AlternateContent xmlns:mc="http://schemas.openxmlformats.org/markup-compatibility/2006" xmlns:p14="http://schemas.microsoft.com/office/powerpoint/2010/main">
        <mc:Choice Requires="p14">
          <p:contentPart p14:bwMode="auto" r:id="rId2">
            <p14:nvContentPartPr>
              <p14:cNvPr id="117" name="Ink 116">
                <a:extLst>
                  <a:ext uri="{FF2B5EF4-FFF2-40B4-BE49-F238E27FC236}">
                    <a16:creationId xmlns:a16="http://schemas.microsoft.com/office/drawing/2014/main" xmlns="" id="{3A2E5C7C-01B6-55CD-16D1-66D7F6057D92}"/>
                  </a:ext>
                </a:extLst>
              </p14:cNvPr>
              <p14:cNvContentPartPr/>
              <p14:nvPr/>
            </p14:nvContentPartPr>
            <p14:xfrm>
              <a:off x="1696640" y="6664480"/>
              <a:ext cx="360" cy="360"/>
            </p14:xfrm>
          </p:contentPart>
        </mc:Choice>
        <mc:Fallback xmlns="">
          <p:pic>
            <p:nvPicPr>
              <p:cNvPr id="117" name="Ink 116">
                <a:extLst>
                  <a:ext uri="{FF2B5EF4-FFF2-40B4-BE49-F238E27FC236}">
                    <a16:creationId xmlns:a16="http://schemas.microsoft.com/office/drawing/2014/main" id="{3A2E5C7C-01B6-55CD-16D1-66D7F6057D92}"/>
                  </a:ext>
                </a:extLst>
              </p:cNvPr>
              <p:cNvPicPr/>
              <p:nvPr/>
            </p:nvPicPr>
            <p:blipFill>
              <a:blip r:embed="rId3"/>
              <a:stretch>
                <a:fillRect/>
              </a:stretch>
            </p:blipFill>
            <p:spPr>
              <a:xfrm>
                <a:off x="1634000" y="66018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8" name="Ink 117">
                <a:extLst>
                  <a:ext uri="{FF2B5EF4-FFF2-40B4-BE49-F238E27FC236}">
                    <a16:creationId xmlns:a16="http://schemas.microsoft.com/office/drawing/2014/main" xmlns="" id="{7093D8E5-9A9F-164D-7A76-0A997B887DFB}"/>
                  </a:ext>
                </a:extLst>
              </p14:cNvPr>
              <p14:cNvContentPartPr/>
              <p14:nvPr/>
            </p14:nvContentPartPr>
            <p14:xfrm>
              <a:off x="1293080" y="6510760"/>
              <a:ext cx="336960" cy="124560"/>
            </p14:xfrm>
          </p:contentPart>
        </mc:Choice>
        <mc:Fallback xmlns="">
          <p:pic>
            <p:nvPicPr>
              <p:cNvPr id="118" name="Ink 117">
                <a:extLst>
                  <a:ext uri="{FF2B5EF4-FFF2-40B4-BE49-F238E27FC236}">
                    <a16:creationId xmlns:a16="http://schemas.microsoft.com/office/drawing/2014/main" id="{7093D8E5-9A9F-164D-7A76-0A997B887DFB}"/>
                  </a:ext>
                </a:extLst>
              </p:cNvPr>
              <p:cNvPicPr/>
              <p:nvPr/>
            </p:nvPicPr>
            <p:blipFill>
              <a:blip r:embed="rId5"/>
              <a:stretch>
                <a:fillRect/>
              </a:stretch>
            </p:blipFill>
            <p:spPr>
              <a:xfrm>
                <a:off x="1230440" y="6447760"/>
                <a:ext cx="4626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1" name="Ink 120">
                <a:extLst>
                  <a:ext uri="{FF2B5EF4-FFF2-40B4-BE49-F238E27FC236}">
                    <a16:creationId xmlns:a16="http://schemas.microsoft.com/office/drawing/2014/main" xmlns="" id="{7CFD9265-DBE5-C441-BDC8-21A6E42F9227}"/>
                  </a:ext>
                </a:extLst>
              </p14:cNvPr>
              <p14:cNvContentPartPr/>
              <p14:nvPr/>
            </p14:nvContentPartPr>
            <p14:xfrm>
              <a:off x="4236440" y="6665560"/>
              <a:ext cx="121680" cy="20520"/>
            </p14:xfrm>
          </p:contentPart>
        </mc:Choice>
        <mc:Fallback xmlns="">
          <p:pic>
            <p:nvPicPr>
              <p:cNvPr id="121" name="Ink 120">
                <a:extLst>
                  <a:ext uri="{FF2B5EF4-FFF2-40B4-BE49-F238E27FC236}">
                    <a16:creationId xmlns:a16="http://schemas.microsoft.com/office/drawing/2014/main" id="{7CFD9265-DBE5-C441-BDC8-21A6E42F9227}"/>
                  </a:ext>
                </a:extLst>
              </p:cNvPr>
              <p:cNvPicPr/>
              <p:nvPr/>
            </p:nvPicPr>
            <p:blipFill>
              <a:blip r:embed="rId7"/>
              <a:stretch>
                <a:fillRect/>
              </a:stretch>
            </p:blipFill>
            <p:spPr>
              <a:xfrm>
                <a:off x="4173800" y="6602920"/>
                <a:ext cx="2473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5" name="Ink 124">
                <a:extLst>
                  <a:ext uri="{FF2B5EF4-FFF2-40B4-BE49-F238E27FC236}">
                    <a16:creationId xmlns:a16="http://schemas.microsoft.com/office/drawing/2014/main" xmlns="" id="{6B8FF9FE-3C09-6AF6-7D31-C5A2AD9447DC}"/>
                  </a:ext>
                </a:extLst>
              </p14:cNvPr>
              <p14:cNvContentPartPr/>
              <p14:nvPr/>
            </p14:nvContentPartPr>
            <p14:xfrm>
              <a:off x="3982640" y="6685360"/>
              <a:ext cx="189720" cy="360"/>
            </p14:xfrm>
          </p:contentPart>
        </mc:Choice>
        <mc:Fallback xmlns="">
          <p:pic>
            <p:nvPicPr>
              <p:cNvPr id="125" name="Ink 124">
                <a:extLst>
                  <a:ext uri="{FF2B5EF4-FFF2-40B4-BE49-F238E27FC236}">
                    <a16:creationId xmlns:a16="http://schemas.microsoft.com/office/drawing/2014/main" id="{6B8FF9FE-3C09-6AF6-7D31-C5A2AD9447DC}"/>
                  </a:ext>
                </a:extLst>
              </p:cNvPr>
              <p:cNvPicPr/>
              <p:nvPr/>
            </p:nvPicPr>
            <p:blipFill>
              <a:blip r:embed="rId9"/>
              <a:stretch>
                <a:fillRect/>
              </a:stretch>
            </p:blipFill>
            <p:spPr>
              <a:xfrm>
                <a:off x="3919640" y="6622360"/>
                <a:ext cx="3153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8" name="Ink 127">
                <a:extLst>
                  <a:ext uri="{FF2B5EF4-FFF2-40B4-BE49-F238E27FC236}">
                    <a16:creationId xmlns:a16="http://schemas.microsoft.com/office/drawing/2014/main" xmlns="" id="{FF47195A-ED18-975E-1F90-D23F5CC44255}"/>
                  </a:ext>
                </a:extLst>
              </p14:cNvPr>
              <p14:cNvContentPartPr/>
              <p14:nvPr/>
            </p14:nvContentPartPr>
            <p14:xfrm>
              <a:off x="9685400" y="6640000"/>
              <a:ext cx="174960" cy="25200"/>
            </p14:xfrm>
          </p:contentPart>
        </mc:Choice>
        <mc:Fallback xmlns="">
          <p:pic>
            <p:nvPicPr>
              <p:cNvPr id="128" name="Ink 127">
                <a:extLst>
                  <a:ext uri="{FF2B5EF4-FFF2-40B4-BE49-F238E27FC236}">
                    <a16:creationId xmlns:a16="http://schemas.microsoft.com/office/drawing/2014/main" id="{FF47195A-ED18-975E-1F90-D23F5CC44255}"/>
                  </a:ext>
                </a:extLst>
              </p:cNvPr>
              <p:cNvPicPr/>
              <p:nvPr/>
            </p:nvPicPr>
            <p:blipFill>
              <a:blip r:embed="rId11"/>
              <a:stretch>
                <a:fillRect/>
              </a:stretch>
            </p:blipFill>
            <p:spPr>
              <a:xfrm>
                <a:off x="9622400" y="6577000"/>
                <a:ext cx="300600" cy="150840"/>
              </a:xfrm>
              <a:prstGeom prst="rect">
                <a:avLst/>
              </a:prstGeom>
            </p:spPr>
          </p:pic>
        </mc:Fallback>
      </mc:AlternateContent>
    </p:spTree>
    <p:extLst>
      <p:ext uri="{BB962C8B-B14F-4D97-AF65-F5344CB8AC3E}">
        <p14:creationId xmlns:p14="http://schemas.microsoft.com/office/powerpoint/2010/main" val="378639056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45625094-42B3-36CF-E733-42A0528FAE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3995" y="677510"/>
            <a:ext cx="3952569" cy="2949678"/>
          </a:xfrm>
        </p:spPr>
      </p:pic>
      <p:pic>
        <p:nvPicPr>
          <p:cNvPr id="7" name="Picture 6">
            <a:extLst>
              <a:ext uri="{FF2B5EF4-FFF2-40B4-BE49-F238E27FC236}">
                <a16:creationId xmlns:a16="http://schemas.microsoft.com/office/drawing/2014/main" xmlns="" id="{DA9DAE97-824A-A523-D770-34BFAEF1A9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7946" y="729619"/>
            <a:ext cx="3952570" cy="2949678"/>
          </a:xfrm>
          <a:prstGeom prst="rect">
            <a:avLst/>
          </a:prstGeom>
        </p:spPr>
      </p:pic>
      <p:pic>
        <p:nvPicPr>
          <p:cNvPr id="9" name="Picture 8">
            <a:extLst>
              <a:ext uri="{FF2B5EF4-FFF2-40B4-BE49-F238E27FC236}">
                <a16:creationId xmlns:a16="http://schemas.microsoft.com/office/drawing/2014/main" xmlns="" id="{943CA551-F271-D591-DF9B-7309A596D9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3996" y="3710954"/>
            <a:ext cx="3952569" cy="3063471"/>
          </a:xfrm>
          <a:prstGeom prst="rect">
            <a:avLst/>
          </a:prstGeom>
        </p:spPr>
      </p:pic>
      <p:pic>
        <p:nvPicPr>
          <p:cNvPr id="11" name="Picture 10">
            <a:extLst>
              <a:ext uri="{FF2B5EF4-FFF2-40B4-BE49-F238E27FC236}">
                <a16:creationId xmlns:a16="http://schemas.microsoft.com/office/drawing/2014/main" xmlns="" id="{98948A8D-7907-C77F-0DE7-D4A03D3039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7946" y="3741428"/>
            <a:ext cx="3952570" cy="3042829"/>
          </a:xfrm>
          <a:prstGeom prst="rect">
            <a:avLst/>
          </a:prstGeom>
        </p:spPr>
      </p:pic>
      <p:sp>
        <p:nvSpPr>
          <p:cNvPr id="12" name="TextBox 11">
            <a:extLst>
              <a:ext uri="{FF2B5EF4-FFF2-40B4-BE49-F238E27FC236}">
                <a16:creationId xmlns:a16="http://schemas.microsoft.com/office/drawing/2014/main" xmlns="" id="{693F404E-BA47-2118-6CE5-ED12D55556FC}"/>
              </a:ext>
            </a:extLst>
          </p:cNvPr>
          <p:cNvSpPr txBox="1"/>
          <p:nvPr/>
        </p:nvSpPr>
        <p:spPr>
          <a:xfrm>
            <a:off x="1696719" y="132080"/>
            <a:ext cx="6208415" cy="461665"/>
          </a:xfrm>
          <a:prstGeom prst="rect">
            <a:avLst/>
          </a:prstGeom>
          <a:noFill/>
        </p:spPr>
        <p:txBody>
          <a:bodyPr wrap="square" rtlCol="0">
            <a:spAutoFit/>
          </a:bodyPr>
          <a:lstStyle/>
          <a:p>
            <a:r>
              <a:rPr lang="en-IN" sz="2400" u="sng" dirty="0">
                <a:latin typeface="Times New Roman" panose="02020603050405020304" pitchFamily="18" charset="0"/>
                <a:cs typeface="Times New Roman" panose="02020603050405020304" pitchFamily="18" charset="0"/>
              </a:rPr>
              <a:t>Plots for Various Performance Metrices:</a:t>
            </a:r>
          </a:p>
        </p:txBody>
      </p:sp>
    </p:spTree>
    <p:extLst>
      <p:ext uri="{BB962C8B-B14F-4D97-AF65-F5344CB8AC3E}">
        <p14:creationId xmlns:p14="http://schemas.microsoft.com/office/powerpoint/2010/main" val="1146975313"/>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2647F9-664C-47CF-9C60-1F95DC0F35EC}"/>
              </a:ext>
            </a:extLst>
          </p:cNvPr>
          <p:cNvSpPr>
            <a:spLocks noGrp="1"/>
          </p:cNvSpPr>
          <p:nvPr>
            <p:ph type="title"/>
          </p:nvPr>
        </p:nvSpPr>
        <p:spPr>
          <a:xfrm>
            <a:off x="838200" y="365125"/>
            <a:ext cx="10515600" cy="884555"/>
          </a:xfrm>
        </p:spPr>
        <p:txBody>
          <a:bodyPr>
            <a:normAutofit/>
          </a:bodyPr>
          <a:lstStyle/>
          <a:p>
            <a:pPr algn="ctr"/>
            <a:r>
              <a:rPr lang="en-IN" sz="36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xmlns="" id="{03AA862C-6477-2F54-5BB5-C688DB29AD3D}"/>
              </a:ext>
            </a:extLst>
          </p:cNvPr>
          <p:cNvSpPr>
            <a:spLocks noGrp="1"/>
          </p:cNvSpPr>
          <p:nvPr>
            <p:ph idx="1"/>
          </p:nvPr>
        </p:nvSpPr>
        <p:spPr>
          <a:xfrm>
            <a:off x="838200" y="1087120"/>
            <a:ext cx="10515600" cy="5608320"/>
          </a:xfrm>
        </p:spPr>
        <p:txBody>
          <a:bodyPr>
            <a:noAutofit/>
          </a:bodyPr>
          <a:lstStyle/>
          <a:p>
            <a:pPr algn="just"/>
            <a:endParaRPr lang="en-US" sz="21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Multimodal medical imaging combines medical scans like CT and MRI to enhance brain tumor detection and analysis.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Image fusion using DWT and MSVD successfully integrates CT and MRI data, producing a more accurate fused image.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Fusion enhances tumor visualization, improving image quality and aiding in better diagnosis and treatment planning.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Clearer imaging enables precise treatment, making multimodal imaging a vital tool for early detection and effective tumor management.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35862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36A5C8-8478-3AC4-EA7E-4476D84262EE}"/>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xmlns="" id="{CAA23A84-F550-71CD-0739-693920B516FB}"/>
              </a:ext>
            </a:extLst>
          </p:cNvPr>
          <p:cNvSpPr>
            <a:spLocks noGrp="1"/>
          </p:cNvSpPr>
          <p:nvPr>
            <p:ph idx="1"/>
          </p:nvPr>
        </p:nvSpPr>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Brain Tumor Diagnosis: Combines CT, MRI, PET, and SPECT for comprehensive insights and accurate detection of Glioblastoma and Meningioma.</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Treatment Planning: Provides detailed images for precise plans and determining the most effective treatment approaches.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Research and Development: Facilitates studies on tumor behavior and supports the development of new imaging techniques.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Educational Purposes: Aids in medical education and training, enhancing the understanding of multimodal imaging and tumor diagnosis</a:t>
            </a:r>
            <a:r>
              <a:rPr lang="en-US" sz="35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4411331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FF60D1-D773-CB24-4A1E-08073E767591}"/>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xmlns="" id="{4BF9C9B3-234C-CD4B-5FF6-CE195D486878}"/>
              </a:ext>
            </a:extLst>
          </p:cNvPr>
          <p:cNvSpPr>
            <a:spLocks noGrp="1"/>
          </p:cNvSpPr>
          <p:nvPr>
            <p:ph idx="1"/>
          </p:nvPr>
        </p:nvSpPr>
        <p:spPr/>
        <p:txBody>
          <a:bodyPr/>
          <a:lstStyle/>
          <a:p>
            <a:pPr marR="0" lvl="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Processing: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real-time image fusion for immediate diagnosis and decision-making.</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Modalities: </a:t>
            </a:r>
          </a:p>
          <a:p>
            <a:pPr marL="0" marR="0" lvl="0" indent="0" algn="just" defTabSz="914400" rtl="0" eaLnBrk="0" fontAlgn="base" latinLnBrk="0" hangingPunct="0">
              <a:lnSpc>
                <a:spcPct val="100000"/>
              </a:lnSpc>
              <a:spcBef>
                <a:spcPct val="0"/>
              </a:spcBef>
              <a:spcAft>
                <a:spcPct val="0"/>
              </a:spcAft>
              <a:buClrTx/>
              <a:buSzTx/>
              <a:buNone/>
              <a:tabLst/>
            </a:pPr>
            <a:r>
              <a:rPr lang="en-US" altLang="en-US" sz="2800" dirty="0">
                <a:latin typeface="Times New Roman" panose="02020603050405020304" pitchFamily="18" charset="0"/>
                <a:cs typeface="Times New Roman" panose="02020603050405020304" pitchFamily="18" charset="0"/>
              </a:rPr>
              <a: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additional imaging techniques like Ultrasound (US) and Optical Coherence Tomography (OCT).</a:t>
            </a:r>
          </a:p>
          <a:p>
            <a:endParaRPr lang="en-IN" dirty="0"/>
          </a:p>
        </p:txBody>
      </p:sp>
    </p:spTree>
    <p:extLst>
      <p:ext uri="{BB962C8B-B14F-4D97-AF65-F5344CB8AC3E}">
        <p14:creationId xmlns:p14="http://schemas.microsoft.com/office/powerpoint/2010/main" val="3522124250"/>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A01F2A-0448-75D3-B32E-966576E436D6}"/>
              </a:ext>
            </a:extLst>
          </p:cNvPr>
          <p:cNvSpPr>
            <a:spLocks noGrp="1"/>
          </p:cNvSpPr>
          <p:nvPr>
            <p:ph type="title"/>
          </p:nvPr>
        </p:nvSpPr>
        <p:spPr>
          <a:xfrm>
            <a:off x="838199" y="-201840"/>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xmlns="" id="{253755FE-6CEE-1813-7BAD-DDA7C2A4C392}"/>
              </a:ext>
            </a:extLst>
          </p:cNvPr>
          <p:cNvSpPr>
            <a:spLocks noGrp="1"/>
          </p:cNvSpPr>
          <p:nvPr>
            <p:ph idx="1"/>
          </p:nvPr>
        </p:nvSpPr>
        <p:spPr>
          <a:xfrm>
            <a:off x="137884" y="818922"/>
            <a:ext cx="11685021" cy="5693637"/>
          </a:xfrm>
        </p:spPr>
        <p:txBody>
          <a:bodyPr>
            <a:noAutofit/>
          </a:bodyPr>
          <a:lstStyle/>
          <a:p>
            <a:pPr marL="457200" indent="-457200" algn="just">
              <a:buFont typeface="+mj-lt"/>
              <a:buAutoNum type="arabicPeriod"/>
            </a:pPr>
            <a:r>
              <a:rPr lang="en-IN" sz="2200" dirty="0" err="1">
                <a:latin typeface="Times New Roman" panose="02020603050405020304" pitchFamily="18" charset="0"/>
                <a:cs typeface="Times New Roman" panose="02020603050405020304" pitchFamily="18" charset="0"/>
              </a:rPr>
              <a:t>Molham</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Moshantat</a:t>
            </a:r>
            <a:r>
              <a:rPr lang="en-IN" sz="2200" dirty="0">
                <a:latin typeface="Times New Roman" panose="02020603050405020304" pitchFamily="18" charset="0"/>
                <a:cs typeface="Times New Roman" panose="02020603050405020304" pitchFamily="18" charset="0"/>
              </a:rPr>
              <a:t>, Saeid </a:t>
            </a:r>
            <a:r>
              <a:rPr lang="en-IN" sz="2200" dirty="0" err="1">
                <a:latin typeface="Times New Roman" panose="02020603050405020304" pitchFamily="18" charset="0"/>
                <a:cs typeface="Times New Roman" panose="02020603050405020304" pitchFamily="18" charset="0"/>
              </a:rPr>
              <a:t>Karamzadeh</a:t>
            </a:r>
            <a:r>
              <a:rPr lang="en-IN" sz="2200" dirty="0">
                <a:latin typeface="Times New Roman" panose="02020603050405020304" pitchFamily="18" charset="0"/>
                <a:cs typeface="Times New Roman" panose="02020603050405020304" pitchFamily="18" charset="0"/>
              </a:rPr>
              <a:t> . "CT and MRI Medical Image Fusion Using Discrete Wavelet </a:t>
            </a:r>
            <a:r>
              <a:rPr lang="en-IN" sz="2200" dirty="0" err="1">
                <a:latin typeface="Times New Roman" panose="02020603050405020304" pitchFamily="18" charset="0"/>
                <a:cs typeface="Times New Roman" panose="02020603050405020304" pitchFamily="18" charset="0"/>
              </a:rPr>
              <a:t>Transform,"published</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inJournal</a:t>
            </a:r>
            <a:r>
              <a:rPr lang="en-IN" sz="2200" dirty="0">
                <a:latin typeface="Times New Roman" panose="02020603050405020304" pitchFamily="18" charset="0"/>
                <a:cs typeface="Times New Roman" panose="02020603050405020304" pitchFamily="18" charset="0"/>
              </a:rPr>
              <a:t> of Medical Imaging, Vol. 40-4 , pp. 939-945, 2019.</a:t>
            </a:r>
          </a:p>
          <a:p>
            <a:pPr marL="457200" indent="-457200" algn="just">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200" dirty="0">
                <a:latin typeface="Times New Roman" panose="02020603050405020304" pitchFamily="18" charset="0"/>
                <a:cs typeface="Times New Roman" panose="02020603050405020304" pitchFamily="18" charset="0"/>
              </a:rPr>
              <a:t>M. </a:t>
            </a:r>
            <a:r>
              <a:rPr lang="en-IN" sz="2200" dirty="0" err="1">
                <a:latin typeface="Times New Roman" panose="02020603050405020304" pitchFamily="18" charset="0"/>
                <a:cs typeface="Times New Roman" panose="02020603050405020304" pitchFamily="18" charset="0"/>
              </a:rPr>
              <a:t>Sajeer</a:t>
            </a:r>
            <a:r>
              <a:rPr lang="en-IN" sz="2200" dirty="0">
                <a:latin typeface="Times New Roman" panose="02020603050405020304" pitchFamily="18" charset="0"/>
                <a:cs typeface="Times New Roman" panose="02020603050405020304" pitchFamily="18" charset="0"/>
              </a:rPr>
              <a:t> &amp; Ashutosh Mishra . "A Robust and Secured Fusion-Based Hybrid Medical Image Watermarking Approach Using RDWT-DWT-MSVD with Hyperchaotic System-Fibonacci Q Matrix </a:t>
            </a:r>
            <a:r>
              <a:rPr lang="en-IN" sz="2200" dirty="0" err="1">
                <a:latin typeface="Times New Roman" panose="02020603050405020304" pitchFamily="18" charset="0"/>
                <a:cs typeface="Times New Roman" panose="02020603050405020304" pitchFamily="18" charset="0"/>
              </a:rPr>
              <a:t>Encryption,"published</a:t>
            </a:r>
            <a:r>
              <a:rPr lang="en-IN" sz="2200" dirty="0">
                <a:latin typeface="Times New Roman" panose="02020603050405020304" pitchFamily="18" charset="0"/>
                <a:cs typeface="Times New Roman" panose="02020603050405020304" pitchFamily="18" charset="0"/>
              </a:rPr>
              <a:t> in Multimedia Tools and Applications, Vol. 82, pp. 37479–37501, 2023.</a:t>
            </a:r>
          </a:p>
          <a:p>
            <a:pPr marL="457200" indent="-457200" algn="just">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200" dirty="0" err="1">
                <a:latin typeface="Times New Roman" panose="02020603050405020304" pitchFamily="18" charset="0"/>
                <a:cs typeface="Times New Roman" panose="02020603050405020304" pitchFamily="18" charset="0"/>
              </a:rPr>
              <a:t>Jaskeerat</a:t>
            </a:r>
            <a:r>
              <a:rPr lang="en-IN" sz="2200" dirty="0">
                <a:latin typeface="Times New Roman" panose="02020603050405020304" pitchFamily="18" charset="0"/>
                <a:cs typeface="Times New Roman" panose="02020603050405020304" pitchFamily="18" charset="0"/>
              </a:rPr>
              <a:t> Kaur, Sandhya, Priyanka </a:t>
            </a:r>
            <a:r>
              <a:rPr lang="en-IN" sz="2200" dirty="0" err="1">
                <a:latin typeface="Times New Roman" panose="02020603050405020304" pitchFamily="18" charset="0"/>
                <a:cs typeface="Times New Roman" panose="02020603050405020304" pitchFamily="18" charset="0"/>
              </a:rPr>
              <a:t>Ganjoo</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Musheer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Vaqur</a:t>
            </a:r>
            <a:r>
              <a:rPr lang="en-IN" sz="2200" dirty="0">
                <a:latin typeface="Times New Roman" panose="02020603050405020304" pitchFamily="18" charset="0"/>
                <a:cs typeface="Times New Roman" panose="02020603050405020304" pitchFamily="18" charset="0"/>
              </a:rPr>
              <a:t>, Kapil Joshi . "A Review: Image Fusion Using DCT and DWT," International Journal of Advanced Research in Computer Science and Software Engineering, Volume 10, Issue 2, ISSN 2229-5518, 2019.</a:t>
            </a:r>
          </a:p>
          <a:p>
            <a:pPr marL="457200" indent="-457200" algn="just">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200" dirty="0">
                <a:latin typeface="Times New Roman" panose="02020603050405020304" pitchFamily="18" charset="0"/>
                <a:cs typeface="Times New Roman" panose="02020603050405020304" pitchFamily="18" charset="0"/>
              </a:rPr>
              <a:t>Gerald K. </a:t>
            </a:r>
            <a:r>
              <a:rPr lang="en-IN" sz="2200" dirty="0" err="1">
                <a:latin typeface="Times New Roman" panose="02020603050405020304" pitchFamily="18" charset="0"/>
                <a:cs typeface="Times New Roman" panose="02020603050405020304" pitchFamily="18" charset="0"/>
              </a:rPr>
              <a:t>Ijemaru</a:t>
            </a:r>
            <a:r>
              <a:rPr lang="en-IN" sz="2200" dirty="0">
                <a:latin typeface="Times New Roman" panose="02020603050405020304" pitchFamily="18" charset="0"/>
                <a:cs typeface="Times New Roman" panose="02020603050405020304" pitchFamily="18" charset="0"/>
              </a:rPr>
              <a:t>, Augustine O. </a:t>
            </a:r>
            <a:r>
              <a:rPr lang="en-IN" sz="2200" dirty="0" err="1">
                <a:latin typeface="Times New Roman" panose="02020603050405020304" pitchFamily="18" charset="0"/>
                <a:cs typeface="Times New Roman" panose="02020603050405020304" pitchFamily="18" charset="0"/>
              </a:rPr>
              <a:t>Nwajana</a:t>
            </a:r>
            <a:r>
              <a:rPr lang="en-IN" sz="2200" dirty="0">
                <a:latin typeface="Times New Roman" panose="02020603050405020304" pitchFamily="18" charset="0"/>
                <a:cs typeface="Times New Roman" panose="02020603050405020304" pitchFamily="18" charset="0"/>
              </a:rPr>
              <a:t>, Emmanuel U. </a:t>
            </a:r>
            <a:r>
              <a:rPr lang="en-IN" sz="2200" dirty="0" err="1">
                <a:latin typeface="Times New Roman" panose="02020603050405020304" pitchFamily="18" charset="0"/>
                <a:cs typeface="Times New Roman" panose="02020603050405020304" pitchFamily="18" charset="0"/>
              </a:rPr>
              <a:t>Oleka</a:t>
            </a:r>
            <a:r>
              <a:rPr lang="en-IN" sz="2200" dirty="0">
                <a:latin typeface="Times New Roman" panose="02020603050405020304" pitchFamily="18" charset="0"/>
                <a:cs typeface="Times New Roman" panose="02020603050405020304" pitchFamily="18" charset="0"/>
              </a:rPr>
              <a:t>, Richard I. </a:t>
            </a:r>
            <a:r>
              <a:rPr lang="en-IN" sz="2200" dirty="0" err="1">
                <a:latin typeface="Times New Roman" panose="02020603050405020304" pitchFamily="18" charset="0"/>
                <a:cs typeface="Times New Roman" panose="02020603050405020304" pitchFamily="18" charset="0"/>
              </a:rPr>
              <a:t>Otuka</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Isibor</a:t>
            </a:r>
            <a:r>
              <a:rPr lang="en-IN" sz="2200" dirty="0">
                <a:latin typeface="Times New Roman" panose="02020603050405020304" pitchFamily="18" charset="0"/>
                <a:cs typeface="Times New Roman" panose="02020603050405020304" pitchFamily="18" charset="0"/>
              </a:rPr>
              <a:t> K. </a:t>
            </a:r>
            <a:r>
              <a:rPr lang="en-IN" sz="2200" dirty="0" err="1">
                <a:latin typeface="Times New Roman" panose="02020603050405020304" pitchFamily="18" charset="0"/>
                <a:cs typeface="Times New Roman" panose="02020603050405020304" pitchFamily="18" charset="0"/>
              </a:rPr>
              <a:t>Ihianle</a:t>
            </a:r>
            <a:r>
              <a:rPr lang="en-IN" sz="2200" dirty="0">
                <a:latin typeface="Times New Roman" panose="02020603050405020304" pitchFamily="18" charset="0"/>
                <a:cs typeface="Times New Roman" panose="02020603050405020304" pitchFamily="18" charset="0"/>
              </a:rPr>
              <a:t>, Solomon H. </a:t>
            </a:r>
            <a:r>
              <a:rPr lang="en-IN" sz="2200" dirty="0" err="1">
                <a:latin typeface="Times New Roman" panose="02020603050405020304" pitchFamily="18" charset="0"/>
                <a:cs typeface="Times New Roman" panose="02020603050405020304" pitchFamily="18" charset="0"/>
              </a:rPr>
              <a:t>Ebenuwa</a:t>
            </a:r>
            <a:r>
              <a:rPr lang="en-IN" sz="2200" dirty="0">
                <a:latin typeface="Times New Roman" panose="02020603050405020304" pitchFamily="18" charset="0"/>
                <a:cs typeface="Times New Roman" panose="02020603050405020304" pitchFamily="18" charset="0"/>
              </a:rPr>
              <a:t>, Emenike Raymond Obi . "Image Processing System Using MATLAB-Based </a:t>
            </a:r>
            <a:r>
              <a:rPr lang="en-IN" sz="2200" dirty="0" err="1">
                <a:latin typeface="Times New Roman" panose="02020603050405020304" pitchFamily="18" charset="0"/>
                <a:cs typeface="Times New Roman" panose="02020603050405020304" pitchFamily="18" charset="0"/>
              </a:rPr>
              <a:t>Analytics,"published</a:t>
            </a:r>
            <a:r>
              <a:rPr lang="en-IN" sz="2200" dirty="0">
                <a:latin typeface="Times New Roman" panose="02020603050405020304" pitchFamily="18" charset="0"/>
                <a:cs typeface="Times New Roman" panose="02020603050405020304" pitchFamily="18" charset="0"/>
              </a:rPr>
              <a:t> in International Journal of Engineering and Technology, Vol. 10, No. 5, October 2021, pp. 2566-2577, 2021.</a:t>
            </a:r>
          </a:p>
          <a:p>
            <a:pPr marL="457200" indent="-457200" algn="just">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89289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B0E915F-9CEF-BA4E-871C-B50ED3344F60}"/>
              </a:ext>
            </a:extLst>
          </p:cNvPr>
          <p:cNvSpPr>
            <a:spLocks noGrp="1"/>
          </p:cNvSpPr>
          <p:nvPr>
            <p:ph idx="1"/>
          </p:nvPr>
        </p:nvSpPr>
        <p:spPr>
          <a:xfrm>
            <a:off x="500063" y="342900"/>
            <a:ext cx="10853737" cy="5834063"/>
          </a:xfrm>
        </p:spPr>
        <p:txBody>
          <a:bodyPr>
            <a:noAutofit/>
          </a:bodyPr>
          <a:lstStyle/>
          <a:p>
            <a:pPr marL="457200" indent="-457200" algn="just">
              <a:buFont typeface="+mj-lt"/>
              <a:buAutoNum type="arabicPeriod" startAt="5"/>
            </a:pPr>
            <a:r>
              <a:rPr lang="en-IN" sz="2200" dirty="0">
                <a:latin typeface="Times New Roman" panose="02020603050405020304" pitchFamily="18" charset="0"/>
                <a:cs typeface="Times New Roman" panose="02020603050405020304" pitchFamily="18" charset="0"/>
              </a:rPr>
              <a:t>Gerald K. </a:t>
            </a:r>
            <a:r>
              <a:rPr lang="en-IN" sz="2200" dirty="0" err="1">
                <a:latin typeface="Times New Roman" panose="02020603050405020304" pitchFamily="18" charset="0"/>
                <a:cs typeface="Times New Roman" panose="02020603050405020304" pitchFamily="18" charset="0"/>
              </a:rPr>
              <a:t>Ijemaru</a:t>
            </a:r>
            <a:r>
              <a:rPr lang="en-IN" sz="2200" dirty="0">
                <a:latin typeface="Times New Roman" panose="02020603050405020304" pitchFamily="18" charset="0"/>
                <a:cs typeface="Times New Roman" panose="02020603050405020304" pitchFamily="18" charset="0"/>
              </a:rPr>
              <a:t>, Augustine O. </a:t>
            </a:r>
            <a:r>
              <a:rPr lang="en-IN" sz="2200" dirty="0" err="1">
                <a:latin typeface="Times New Roman" panose="02020603050405020304" pitchFamily="18" charset="0"/>
                <a:cs typeface="Times New Roman" panose="02020603050405020304" pitchFamily="18" charset="0"/>
              </a:rPr>
              <a:t>Nwajana</a:t>
            </a:r>
            <a:r>
              <a:rPr lang="en-IN" sz="2200" dirty="0">
                <a:latin typeface="Times New Roman" panose="02020603050405020304" pitchFamily="18" charset="0"/>
                <a:cs typeface="Times New Roman" panose="02020603050405020304" pitchFamily="18" charset="0"/>
              </a:rPr>
              <a:t>, Emmanuel U. </a:t>
            </a:r>
            <a:r>
              <a:rPr lang="en-IN" sz="2200" dirty="0" err="1">
                <a:latin typeface="Times New Roman" panose="02020603050405020304" pitchFamily="18" charset="0"/>
                <a:cs typeface="Times New Roman" panose="02020603050405020304" pitchFamily="18" charset="0"/>
              </a:rPr>
              <a:t>Oleka</a:t>
            </a:r>
            <a:r>
              <a:rPr lang="en-IN" sz="2200" dirty="0">
                <a:latin typeface="Times New Roman" panose="02020603050405020304" pitchFamily="18" charset="0"/>
                <a:cs typeface="Times New Roman" panose="02020603050405020304" pitchFamily="18" charset="0"/>
              </a:rPr>
              <a:t>, Richard I. </a:t>
            </a:r>
            <a:r>
              <a:rPr lang="en-IN" sz="2200" dirty="0" err="1">
                <a:latin typeface="Times New Roman" panose="02020603050405020304" pitchFamily="18" charset="0"/>
                <a:cs typeface="Times New Roman" panose="02020603050405020304" pitchFamily="18" charset="0"/>
              </a:rPr>
              <a:t>Otuka</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Isibor</a:t>
            </a:r>
            <a:r>
              <a:rPr lang="en-IN" sz="2200" dirty="0">
                <a:latin typeface="Times New Roman" panose="02020603050405020304" pitchFamily="18" charset="0"/>
                <a:cs typeface="Times New Roman" panose="02020603050405020304" pitchFamily="18" charset="0"/>
              </a:rPr>
              <a:t> K. </a:t>
            </a:r>
            <a:r>
              <a:rPr lang="en-IN" sz="2200" dirty="0" err="1">
                <a:latin typeface="Times New Roman" panose="02020603050405020304" pitchFamily="18" charset="0"/>
                <a:cs typeface="Times New Roman" panose="02020603050405020304" pitchFamily="18" charset="0"/>
              </a:rPr>
              <a:t>Ihianle</a:t>
            </a:r>
            <a:r>
              <a:rPr lang="en-IN" sz="2200" dirty="0">
                <a:latin typeface="Times New Roman" panose="02020603050405020304" pitchFamily="18" charset="0"/>
                <a:cs typeface="Times New Roman" panose="02020603050405020304" pitchFamily="18" charset="0"/>
              </a:rPr>
              <a:t>, Solomon H. </a:t>
            </a:r>
            <a:r>
              <a:rPr lang="en-IN" sz="2200" dirty="0" err="1">
                <a:latin typeface="Times New Roman" panose="02020603050405020304" pitchFamily="18" charset="0"/>
                <a:cs typeface="Times New Roman" panose="02020603050405020304" pitchFamily="18" charset="0"/>
              </a:rPr>
              <a:t>Ebenuwa</a:t>
            </a:r>
            <a:r>
              <a:rPr lang="en-IN" sz="2200" dirty="0">
                <a:latin typeface="Times New Roman" panose="02020603050405020304" pitchFamily="18" charset="0"/>
                <a:cs typeface="Times New Roman" panose="02020603050405020304" pitchFamily="18" charset="0"/>
              </a:rPr>
              <a:t>, Emenike Raymond Obi . "Image Processing System Using MATLAB-Based Analytics," International Journal of Engineering and Technology, Vol. 10, No. 5, October 2021, pp. 2566-2577, 2021.</a:t>
            </a:r>
          </a:p>
          <a:p>
            <a:pPr marL="457200" indent="-457200" algn="just">
              <a:buFont typeface="+mj-lt"/>
              <a:buAutoNum type="arabicPeriod" startAt="5"/>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5"/>
            </a:pPr>
            <a:r>
              <a:rPr lang="en-IN" sz="2200" dirty="0">
                <a:latin typeface="Times New Roman" panose="02020603050405020304" pitchFamily="18" charset="0"/>
                <a:cs typeface="Times New Roman" panose="02020603050405020304" pitchFamily="18" charset="0"/>
              </a:rPr>
              <a:t>Xin Jin, Qian Jiang, Xing Chu, Xun Lang, </a:t>
            </a:r>
            <a:r>
              <a:rPr lang="en-IN" sz="2200" dirty="0" err="1">
                <a:latin typeface="Times New Roman" panose="02020603050405020304" pitchFamily="18" charset="0"/>
                <a:cs typeface="Times New Roman" panose="02020603050405020304" pitchFamily="18" charset="0"/>
              </a:rPr>
              <a:t>Shaowen</a:t>
            </a:r>
            <a:r>
              <a:rPr lang="en-IN" sz="2200" dirty="0">
                <a:latin typeface="Times New Roman" panose="02020603050405020304" pitchFamily="18" charset="0"/>
                <a:cs typeface="Times New Roman" panose="02020603050405020304" pitchFamily="18" charset="0"/>
              </a:rPr>
              <a:t> Yao, </a:t>
            </a:r>
            <a:r>
              <a:rPr lang="en-IN" sz="2200" dirty="0" err="1">
                <a:latin typeface="Times New Roman" panose="02020603050405020304" pitchFamily="18" charset="0"/>
                <a:cs typeface="Times New Roman" panose="02020603050405020304" pitchFamily="18" charset="0"/>
              </a:rPr>
              <a:t>Keqin</a:t>
            </a:r>
            <a:r>
              <a:rPr lang="en-IN" sz="2200" dirty="0">
                <a:latin typeface="Times New Roman" panose="02020603050405020304" pitchFamily="18" charset="0"/>
                <a:cs typeface="Times New Roman" panose="02020603050405020304" pitchFamily="18" charset="0"/>
              </a:rPr>
              <a:t> Li, Wei Zhou . "Brain Medical Image Fusion Using L2-Norm-Based Features and Fuzzy-Weighted Measurements in 2-D Littlewood–Paley EWT Domain," IEEE Access, Vol. 8, pp. 12345–12356, 2020.</a:t>
            </a:r>
          </a:p>
          <a:p>
            <a:pPr marL="457200" indent="-457200" algn="just">
              <a:buFont typeface="+mj-lt"/>
              <a:buAutoNum type="arabicPeriod" startAt="5"/>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5"/>
            </a:pPr>
            <a:r>
              <a:rPr lang="en-IN" sz="2200" dirty="0">
                <a:latin typeface="Times New Roman" panose="02020603050405020304" pitchFamily="18" charset="0"/>
                <a:cs typeface="Times New Roman" panose="02020603050405020304" pitchFamily="18" charset="0"/>
              </a:rPr>
              <a:t>Kedar Nath Singh, Om Prakash Singh, Amit Kumar Singh, Amrit Kumar Agrawal . "</a:t>
            </a:r>
            <a:r>
              <a:rPr lang="en-IN" sz="2200" dirty="0" err="1">
                <a:latin typeface="Times New Roman" panose="02020603050405020304" pitchFamily="18" charset="0"/>
                <a:cs typeface="Times New Roman" panose="02020603050405020304" pitchFamily="18" charset="0"/>
              </a:rPr>
              <a:t>WatMIF</a:t>
            </a:r>
            <a:r>
              <a:rPr lang="en-IN" sz="2200" dirty="0">
                <a:latin typeface="Times New Roman" panose="02020603050405020304" pitchFamily="18" charset="0"/>
                <a:cs typeface="Times New Roman" panose="02020603050405020304" pitchFamily="18" charset="0"/>
              </a:rPr>
              <a:t>: Multimodal Medical Image Fusion-Based Watermarking for Telehealth Applications," Journal of Medical Imaging and Health Informatics, Vol. 16, pp. 1947–1963, 2022.</a:t>
            </a:r>
          </a:p>
          <a:p>
            <a:pPr marL="457200" indent="-457200" algn="just">
              <a:buFont typeface="+mj-lt"/>
              <a:buAutoNum type="arabicPeriod" startAt="5"/>
            </a:pPr>
            <a:endParaRPr lang="en-IN" sz="2200" dirty="0">
              <a:latin typeface="Times New Roman" panose="02020603050405020304" pitchFamily="18" charset="0"/>
              <a:cs typeface="Times New Roman" panose="02020603050405020304" pitchFamily="18" charset="0"/>
            </a:endParaRPr>
          </a:p>
          <a:p>
            <a:pPr marL="457200" indent="-457200" algn="just">
              <a:buFont typeface="+mj-lt"/>
              <a:buAutoNum type="arabicPeriod" startAt="5"/>
            </a:pPr>
            <a:r>
              <a:rPr lang="en-IN" sz="2200" dirty="0">
                <a:latin typeface="Times New Roman" panose="02020603050405020304" pitchFamily="18" charset="0"/>
                <a:cs typeface="Times New Roman" panose="02020603050405020304" pitchFamily="18" charset="0"/>
              </a:rPr>
              <a:t>Rui Zhu, </a:t>
            </a:r>
            <a:r>
              <a:rPr lang="en-IN" sz="2200" dirty="0" err="1">
                <a:latin typeface="Times New Roman" panose="02020603050405020304" pitchFamily="18" charset="0"/>
                <a:cs typeface="Times New Roman" panose="02020603050405020304" pitchFamily="18" charset="0"/>
              </a:rPr>
              <a:t>Xiongfei</a:t>
            </a:r>
            <a:r>
              <a:rPr lang="en-IN" sz="2200" dirty="0">
                <a:latin typeface="Times New Roman" panose="02020603050405020304" pitchFamily="18" charset="0"/>
                <a:cs typeface="Times New Roman" panose="02020603050405020304" pitchFamily="18" charset="0"/>
              </a:rPr>
              <a:t> Li, </a:t>
            </a:r>
            <a:r>
              <a:rPr lang="en-IN" sz="2200" dirty="0" err="1">
                <a:latin typeface="Times New Roman" panose="02020603050405020304" pitchFamily="18" charset="0"/>
                <a:cs typeface="Times New Roman" panose="02020603050405020304" pitchFamily="18" charset="0"/>
              </a:rPr>
              <a:t>Xiaoli</a:t>
            </a:r>
            <a:r>
              <a:rPr lang="en-IN" sz="2200" dirty="0">
                <a:latin typeface="Times New Roman" panose="02020603050405020304" pitchFamily="18" charset="0"/>
                <a:cs typeface="Times New Roman" panose="02020603050405020304" pitchFamily="18" charset="0"/>
              </a:rPr>
              <a:t> Zhang, </a:t>
            </a:r>
            <a:r>
              <a:rPr lang="en-IN" sz="2200" dirty="0" err="1">
                <a:latin typeface="Times New Roman" panose="02020603050405020304" pitchFamily="18" charset="0"/>
                <a:cs typeface="Times New Roman" panose="02020603050405020304" pitchFamily="18" charset="0"/>
              </a:rPr>
              <a:t>Mingrui</a:t>
            </a:r>
            <a:r>
              <a:rPr lang="en-IN" sz="2200" dirty="0">
                <a:latin typeface="Times New Roman" panose="02020603050405020304" pitchFamily="18" charset="0"/>
                <a:cs typeface="Times New Roman" panose="02020603050405020304" pitchFamily="18" charset="0"/>
              </a:rPr>
              <a:t> Ma . "MRI and CT Medical Image Fusion Based on Synchronized-Anisotropic Diffusion Model," IEEE Access, Vol. 8, Article 2993493, </a:t>
            </a:r>
            <a:r>
              <a:rPr lang="en-IN" sz="2200" dirty="0" err="1">
                <a:latin typeface="Times New Roman" panose="02020603050405020304" pitchFamily="18" charset="0"/>
                <a:cs typeface="Times New Roman" panose="02020603050405020304" pitchFamily="18" charset="0"/>
              </a:rPr>
              <a:t>doi</a:t>
            </a:r>
            <a:r>
              <a:rPr lang="en-IN" sz="2200" dirty="0">
                <a:latin typeface="Times New Roman" panose="02020603050405020304" pitchFamily="18" charset="0"/>
                <a:cs typeface="Times New Roman" panose="02020603050405020304" pitchFamily="18" charset="0"/>
              </a:rPr>
              <a:t>: 10.1109/ACCESS. 2020.2993493, 2020.</a:t>
            </a:r>
          </a:p>
          <a:p>
            <a:pPr marL="457200" indent="-457200">
              <a:buFont typeface="+mj-lt"/>
              <a:buAutoNum type="arabicPeriod" startAt="5"/>
            </a:pPr>
            <a:endParaRPr lang="en-IN" sz="2200" dirty="0"/>
          </a:p>
        </p:txBody>
      </p:sp>
    </p:spTree>
    <p:extLst>
      <p:ext uri="{BB962C8B-B14F-4D97-AF65-F5344CB8AC3E}">
        <p14:creationId xmlns:p14="http://schemas.microsoft.com/office/powerpoint/2010/main" val="89026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8ADDA0-EEDB-9C69-1763-73C3692E3BC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9C9E6CF7-F9A4-E16D-681E-D85EF0C74E0B}"/>
              </a:ext>
            </a:extLst>
          </p:cNvPr>
          <p:cNvSpPr>
            <a:spLocks noGrp="1"/>
          </p:cNvSpPr>
          <p:nvPr>
            <p:ph idx="1"/>
          </p:nvPr>
        </p:nvSpPr>
        <p:spPr/>
        <p:txBody>
          <a:bodyPr>
            <a:normAutofit/>
          </a:bodyPr>
          <a:lstStyle/>
          <a:p>
            <a:pPr marL="0" indent="0" algn="ctr">
              <a:buNone/>
            </a:pPr>
            <a:endParaRPr lang="en-IN" sz="4800" dirty="0">
              <a:latin typeface="Times New Roman" panose="02020603050405020304" pitchFamily="18" charset="0"/>
              <a:cs typeface="Times New Roman" panose="02020603050405020304" pitchFamily="18" charset="0"/>
            </a:endParaRPr>
          </a:p>
          <a:p>
            <a:pPr marL="0" indent="0" algn="ctr">
              <a:buNone/>
            </a:pPr>
            <a:r>
              <a:rPr lang="en-IN" sz="4800" dirty="0">
                <a:latin typeface="Goudy Stout" panose="0202090407030B020401" pitchFamily="18" charset="0"/>
                <a:cs typeface="Times New Roman" panose="02020603050405020304" pitchFamily="18" charset="0"/>
              </a:rPr>
              <a:t>THANK YOU</a:t>
            </a:r>
          </a:p>
        </p:txBody>
      </p:sp>
    </p:spTree>
    <p:extLst>
      <p:ext uri="{BB962C8B-B14F-4D97-AF65-F5344CB8AC3E}">
        <p14:creationId xmlns:p14="http://schemas.microsoft.com/office/powerpoint/2010/main" val="2124219172"/>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1192</Words>
  <Application>Microsoft Office PowerPoint</Application>
  <PresentationFormat>Custom</PresentationFormat>
  <Paragraphs>175</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Shree devi institute of technology DEPARTMENT OF ELECTRONICS AND COMMUNICATION ENGINEERING </vt:lpstr>
      <vt:lpstr>TABLE OF CONTENTS</vt:lpstr>
      <vt:lpstr>INTRODUCTION </vt:lpstr>
      <vt:lpstr>LITERATURE REVIEW </vt:lpstr>
      <vt:lpstr>OBJECTIVES</vt:lpstr>
      <vt:lpstr>METHODOLOGY</vt:lpstr>
      <vt:lpstr>DISCRETE WAVELET TRANSFORM TECHNIQUES:   </vt:lpstr>
      <vt:lpstr>  MSVD (Multi-Resolution Singular Value Decomposition) is an extension of Singular Value Decomposition (SVD) used in image processing to analyze and process images at multiple scales, improving feature extraction and fusion. </vt:lpstr>
      <vt:lpstr>PERFORMANCE METRICES</vt:lpstr>
      <vt:lpstr>IMPLEMENTATION AND RESULTS</vt:lpstr>
      <vt:lpstr>Fused Images of Glioblastoma and Meningioma using DWT and MSVD Techniques :</vt:lpstr>
      <vt:lpstr>STATISTICAL ANALYSIS  </vt:lpstr>
      <vt:lpstr>PowerPoint Presentation</vt:lpstr>
      <vt:lpstr>CONCLUSION</vt:lpstr>
      <vt:lpstr>APPLICATIONS</vt:lpstr>
      <vt:lpstr>FUTURE SCOPE</vt:lpstr>
      <vt:lpstr>REFERENCES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Shree devi institute of technology DEPARTMENT OF ELECTRONICS AND COMMUNICATION ENGINEERING</dc:title>
  <dc:creator>Amrutha KM</dc:creator>
  <cp:lastModifiedBy>Gangotri Hiremath</cp:lastModifiedBy>
  <cp:revision>28</cp:revision>
  <dcterms:created xsi:type="dcterms:W3CDTF">2025-01-28T07:40:03Z</dcterms:created>
  <dcterms:modified xsi:type="dcterms:W3CDTF">2025-02-06T05:45:20Z</dcterms:modified>
</cp:coreProperties>
</file>